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Genre declaration. DSR produces an ARTIFACT; NASA TRL-3 is "analytical and experimental critical function / characteristic proof of concept". Validation in a relevant environment is TRL-5, which this study does not claim. Say this in the first thirty seconds and the small-n objection never lands. OPTIONAL: a full-bleed photograph of the Kejian weirs at low tide could sit behind this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Menotti (2025), "The model is the museum" (AI &amp; Society): generative systems act as epistemic infrastructures that expropriate heritage through extraction without consent, erasure of authorship, and decontextualisation. All three occur UPSTREAM of the prompt, which is the strongest available argument that a post-hoc fix cannot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signals that a limits section is planned rather than extracted under questioning.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IPSI's "Indicators of Resilience in SEPLS" toolkit (2024 ed.) is a community-based SELF-assessment instrument: the community scores its own landscape. The governance records here are the same move applied to data rather than to ecology.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the 2025 review of hallucination mitigation for RAG (Mathematics 13(5):856) identifies over-reliance on parametric knowledge as a primary failure mode; quantitative approximation is its visible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CARE's "Authority to Control" and Carroll et al. (2021) on cultural metadata: the record must carry the community's own terms, not a canonical form imposed for retrieval convenience. This is why vocabulary precision is scored as its own dimension in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Menotti (2025) argues generative systems homogenise non-dominant cultures by compressing them into statistical patterns; the long tail is not merely missing, it is smoothed toward the dominant form. Here that means 石滬 displacing 石塭.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CIDOC's own guidance "Documenting Cultural Heritage in Small Museums" concedes the same capacity gap from inside the standards community. Two payoffs on this timeline: the 2021 police-dormitory conversion returns as the fabricated-specificity failure (PL-03), and the 2007 patrol-to-association transition is the record later compressed into a single E5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reframes the contribution and defuses the "you are imposing a framework" objection. Note also that the Cultural Heritage Preservation Act is the one item the unconstrained baseline answers well (§5.3) — precisely because it is general legal knowledge rather than local specificity.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鹹醢飯 is simultaneously an object and a procedure (E22 vs E29); 蔓荊 is simultaneously a plant and an identity claim (E20 vs E73). Both are resolved in §5.2 by choosing a class and documenting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Local Contexts' TK Labels exist precisely for cultural material "digitally circulating outside community contexts" where consent was never obtained. They are graded (Provenance / Protocol / Permission) rather than binary, and informational rather than legal. This is the vocabulary the FPIC field is missing — see slide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short on time this is the slide to cut, but read it yourself beforehand: it is the map of every callback in the deck. Saying the principle out loud once — "everything I just told you comes back as a measurement" — is usually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Citing an independent paper for the same triad makes the framing look derived rather than invented. Menotti's argument is that generative systems are epistemic infrastructures — they behave like museums, deciding what is shown and how — which is exactly why a fix applied after generation arrives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3 is the load-bearing one: a structured collection gives a model something to be wrong against, and community narrative supplies nothing of the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structural beat in the deck: it converts listeners into witnesses. Pause after each row. Do NOT reveal the correct answers here — they arrive at slide 37 and closing that loop is the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Carroll et al. (2021) state that FAIR "emphasises machine-actionable data sharing without adequately addressing relationships, power differentials, and the historical conditions associated with the collection of data". The same observation from the standards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Carroll et al. (2021) ask specifically for machine-readable provenance and machine-readable consent that "signal the decision-making point that needs to be approached to allow or refuse consent". The five governance fields are a direct instance of that request, which turns the contribution from "a useful schema" into "an answer to a named open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Forward-link this to the confident-hedging finding. It is the single best argument against "we will just review the outputs", because it shows human review is defeated by the specific failure mode the baseline produces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test condition out loud here, then conceding it in Act VII, is what makes the concession read as rigour rather than damage control. Set the trap for yourself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results section cannot be reordered to lead with the headline numbers. If someone asks "why not open with the 0% hallucination?", the answer is that the number means nothing without the two layers beneath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pre-emptive defence slide. Naming this mapping turns "incomplete" into "at the expected stage", and it costs thirty seconds here to save the whole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get one diagram in front of this audience, make it this one. Trace the bottom arrow with your hand while saying "gate". Everything in Act VI measures whether that gate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blocks answer four machine questions: may I use this, on what terms, at what spatial precision, on whose authority. External anchors — Carroll et al. (2021) call for machine-readable provenance PLUS a machine-readable consent decision point; the geo-privacy tiers are a manual analogue of reproducible obfuscation methods such as discrete global grid systems (Scientific Data,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this is the concrete instance of what Carroll et al. (2021) ask for: machine-readable provenance plus a machine-readable consent signal. What is missing is a controlled vocabulary for the consent value — exactly the gap slide 46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CIDOC's "Documenting Cultural Heritage in Small Museums". Use it if challenged on rigour: the minimal profile is established practice inside the standards community, not a shortcut invented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custom was invented here, which is precisely what makes the cross-institutional federation of Act IX possible. A bespoke provenance vocabulary would have made every later joining organisation write a crosswalk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Residual risk if pressed — the 2025 RAG review (Mathematics 13(5):856) shows grounding still fails through retrieval noise, knowledge conflict with parametric memory, and attention decay in long contexts. None can surface at 35 records. Say so before someone else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nine steps onto Peffers' six activities out loud and the gap becomes structural rather than apologetic.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DSR defence of single-case demonstration, and it is legitimate only because the claim is feasibility. The moment the claim becomes "this generalises", the single case becomes fatal — which is why slide 42 restates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Pre-empts the most common statistical objection. Nobody asks for error bars on a census. Read only the total and the three semantic rows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single rater in your own voice, here, before the results. Raising it at slide 41 after the audience has accepted the numbers reads as retraction; raising it now reads as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multiplication out loud. It converts "feasible" from an adjective into a budget, and it sets up slide 47 where volunteer availability becomes the binding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the same reasoning underlies geomasking in archaeology, where precise site coordinates are withheld or blurred to reduce looting risk. Reproducible methods now exist (discrete global grid systems, Scientific Data 2024), which is the natural TRL-4 upgrade: replace a human tier judgement with a documented, repeatable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methodologically strongest part of RQ2 because it is falsifiable: a single merged record would refute it. Contrast that with "no cultural concepts were excluded", which is much harder to check — and which the next slide immediately qualifies.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Reversibility is the key word. Because the discarded reading is written down, a later TRL-4 expansion to E7 Activity and P14 carried-out-by chains can recover it without re-reading the source. That is the difference between compression and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anchor — the 2025 RAG review names three residual failure modes a 35-record corpus structurally cannot exhibit: retrieval noise, conflict between retrieved and parametric knowledge, and attention decay over long contexts. So the honest reading is that 0% is a ceiling observed under favourable conditions, not a property of the design. Say this and the 100%/0% stops sounding too good to be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three questions as slide 15, closing a loop opened in Act I. Three-point landing: place → failure → grounded answer. Slow down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cultural asymmetry out loud: soy sauce is the statistically likelier ingredient across Chinese-language cooking text, so the error is the model regressing a Hakka coastal recipe toward a dominant culinary norm. That is Menotti's homogenisation thesis appearing in three items of our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quotable slide in the deck and the strongest support for slide 18. A cautious-sounding wrong answer is worse than a confidently wrong one, because it survives review. Note also the mirror in the table: each condition is strongest exactly where the other is weakest, and the dividing line is local specificity.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 out why the distinction is not academic: if only grounding matters, a vendor satisfies the finding with any vector store. If governance metadata matters, the community's authority is load-bearing. The third condition decides which sentence a policymaker may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the designer-as-rater point before it is raised. It is the sharpest available critique of the results section, and conceding it costs nothing at TRL-3 where the claim is feasibility rather than effect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study protocol (n ≈ 20–30) has been designed but not executed; the logging schema is defined but not deployed; and the minimal CIDOC-CRM subset trades expressiveness for adoption ease, which may not hold for multi-narrative or cross-institutional corpora.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calibration slide. If you are running long, this is the LAST slide to cut - it is the one that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contrast — the npj Heritage Science framework for trustworthy AI in cultural heritage builds on bias detection and explainability, derived top-down from policy documents. Ours is bottom-up and locates trust in the record rather than in the model's interpretability.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inverts the default AI intuition that more data is better, and it is the claim a community partner or funder will actually remember. Be explicit that the projection is arithmetic on a reported figure, not a new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biggest upgrade available to the paper. Adopting a TK/BC Label vocabulary is precisely what Carroll et al. (2021) ask for when they call for a machine-readable consent signal, and it converts a conceded weakness into a concrete next design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slide 9: the reviewers are electricians and taxi drivers who come when the water allows. Any proposal to scale to a thousand records is a proposal about their weekends, and should be presented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condition rather than the domain list — a condition tells a stranger in the audience whether their own field qualifies, which is how a paradigm claim travels. The last two rows matter as much as the first four: naming where the pattern does NOT apply is what keeps it from sounding like a universal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would you do with funding tomorrow", the answer is the third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standards choices in Layer 2 matter beyond tidiness — nothing custom was invented, so records remain joinable across organisations that never coordinated. Use the Satoyama network framing if the audience is heritage-side.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one line from slide 2. Then stop — do not add a thank-you slide after the Yongxing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these behind the close; pull them up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anchors behind the inference lines. Several are newer than the paper and are candidates for the next revision of the reference list — particularly Menotti (2025) and the TK Labels, which speak directly to two of the paper's own open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920240"/>
            <a:ext cx="10515600" cy="82296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Stone Weirs, Shared Futures</a:t>
            </a:r>
            <a:endParaRPr lang="en-US" sz="4000" dirty="0"/>
          </a:p>
        </p:txBody>
      </p:sp>
      <p:sp>
        <p:nvSpPr>
          <p:cNvPr id="3" name="Text 1"/>
          <p:cNvSpPr txBox="1"/>
          <p:nvPr/>
        </p:nvSpPr>
        <p:spPr>
          <a:xfrm>
            <a:off x="822960" y="2743200"/>
            <a:ext cx="10515600" cy="548640"/>
          </a:xfrm>
          <a:prstGeom prst="rect">
            <a:avLst/>
          </a:prstGeom>
          <a:noFill/>
          <a:ln/>
        </p:spPr>
        <p:txBody>
          <a:bodyPr wrap="square" lIns="0" tIns="0" rIns="0" bIns="0" rtlCol="0" anchor="ctr"/>
          <a:lstStyle/>
          <a:p>
            <a:pPr indent="0" marL="0">
              <a:buNone/>
            </a:pPr>
            <a:r>
              <a:rPr lang="en-US" sz="1900" i="1" dirty="0">
                <a:solidFill>
                  <a:srgbClr val="2B2B2B"/>
                </a:solidFill>
                <a:latin typeface="Cambria" pitchFamily="34" charset="0"/>
                <a:ea typeface="Cambria" pitchFamily="34" charset="-122"/>
                <a:cs typeface="Cambria" pitchFamily="34" charset="-120"/>
              </a:rPr>
              <a:t>Governance-First AI Question Answering and Guided Narratives for Maritime Heritage</a:t>
            </a:r>
            <a:endParaRPr lang="en-US" sz="1900" dirty="0"/>
          </a:p>
        </p:txBody>
      </p:sp>
      <p:sp>
        <p:nvSpPr>
          <p:cNvPr id="4" name="Text 2"/>
          <p:cNvSpPr txBox="1"/>
          <p:nvPr/>
        </p:nvSpPr>
        <p:spPr>
          <a:xfrm>
            <a:off x="822960" y="3657600"/>
            <a:ext cx="10515600" cy="32004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Yu-Hsin TAI¹  ·  Chen-Min LAI²  ·  Jen-Fu LEE³  ·  Yun-Fang CHANG⁴</a:t>
            </a:r>
            <a:endParaRPr lang="en-US" sz="1400" dirty="0"/>
          </a:p>
        </p:txBody>
      </p:sp>
      <p:sp>
        <p:nvSpPr>
          <p:cNvPr id="5" name="Text 3"/>
          <p:cNvSpPr txBox="1"/>
          <p:nvPr/>
        </p:nvSpPr>
        <p:spPr>
          <a:xfrm>
            <a:off x="822960" y="4069080"/>
            <a:ext cx="10515600" cy="1005840"/>
          </a:xfrm>
          <a:prstGeom prst="rect">
            <a:avLst/>
          </a:prstGeom>
          <a:noFill/>
          <a:ln/>
        </p:spPr>
        <p:txBody>
          <a:bodyPr wrap="square" lIns="0" tIns="0" rIns="0" bIns="0" rtlCol="0" anchor="ctr"/>
          <a:lstStyle/>
          <a:p>
            <a:pPr indent="0" marL="0">
              <a:lnSpc>
                <a:spcPts val="1600"/>
              </a:lnSpc>
              <a:buNone/>
            </a:pPr>
            <a:r>
              <a:rPr lang="en-US" sz="1100" dirty="0">
                <a:solidFill>
                  <a:srgbClr val="7A7A7A"/>
                </a:solidFill>
                <a:latin typeface="Calibri" pitchFamily="34" charset="0"/>
                <a:ea typeface="Calibri" pitchFamily="34" charset="-122"/>
                <a:cs typeface="Calibri" pitchFamily="34" charset="-120"/>
              </a:rPr>
              <a:t>¹ Department of Psychology, Fu Jen Catholic University, Taiwan</a:t>
            </a:r>
            <a:endParaRPr lang="en-US" sz="1100" dirty="0"/>
          </a:p>
          <a:p>
            <a:pPr indent="0" marL="0">
              <a:lnSpc>
                <a:spcPts val="1600"/>
              </a:lnSpc>
              <a:buNone/>
            </a:pPr>
            <a:r>
              <a:rPr lang="en-US" sz="1100" dirty="0">
                <a:solidFill>
                  <a:srgbClr val="7A7A7A"/>
                </a:solidFill>
                <a:latin typeface="Calibri" pitchFamily="34" charset="0"/>
                <a:ea typeface="Calibri" pitchFamily="34" charset="-122"/>
                <a:cs typeface="Calibri" pitchFamily="34" charset="-120"/>
              </a:rPr>
              <a:t>² National Central University; Dream Maker</a:t>
            </a:r>
            <a:endParaRPr lang="en-US" sz="1100" dirty="0"/>
          </a:p>
          <a:p>
            <a:pPr indent="0" marL="0">
              <a:lnSpc>
                <a:spcPts val="1600"/>
              </a:lnSpc>
              <a:buNone/>
            </a:pPr>
            <a:r>
              <a:rPr lang="en-US" sz="1100" dirty="0">
                <a:solidFill>
                  <a:srgbClr val="7A7A7A"/>
                </a:solidFill>
                <a:latin typeface="Calibri" pitchFamily="34" charset="0"/>
                <a:ea typeface="Calibri" pitchFamily="34" charset="-122"/>
                <a:cs typeface="Calibri" pitchFamily="34" charset="-120"/>
              </a:rPr>
              <a:t>³ College of Hakka Studies, National Central University, Taiwan</a:t>
            </a:r>
            <a:endParaRPr lang="en-US" sz="1100" dirty="0"/>
          </a:p>
          <a:p>
            <a:pPr indent="0" marL="0">
              <a:lnSpc>
                <a:spcPts val="1600"/>
              </a:lnSpc>
              <a:buNone/>
            </a:pPr>
            <a:r>
              <a:rPr lang="en-US" sz="1100" dirty="0">
                <a:solidFill>
                  <a:srgbClr val="7A7A7A"/>
                </a:solidFill>
                <a:latin typeface="Calibri" pitchFamily="34" charset="0"/>
                <a:ea typeface="Calibri" pitchFamily="34" charset="-122"/>
                <a:cs typeface="Calibri" pitchFamily="34" charset="-120"/>
              </a:rPr>
              <a:t>⁴ Independent Researcher, Taiwan</a:t>
            </a:r>
            <a:endParaRPr lang="en-US" sz="1100" dirty="0"/>
          </a:p>
        </p:txBody>
      </p:sp>
      <p:sp>
        <p:nvSpPr>
          <p:cNvPr id="6" name="Text 4"/>
          <p:cNvSpPr txBox="1"/>
          <p:nvPr/>
        </p:nvSpPr>
        <p:spPr>
          <a:xfrm>
            <a:off x="822960" y="5212080"/>
            <a:ext cx="10515600"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An ethics-forward design study at Technology Readiness Level 3</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0 · FRAME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claim in one sentence</a:t>
            </a:r>
            <a:endParaRPr lang="en-US" sz="2700" dirty="0"/>
          </a:p>
        </p:txBody>
      </p:sp>
      <p:sp>
        <p:nvSpPr>
          <p:cNvPr id="4" name="Text 2"/>
          <p:cNvSpPr txBox="1"/>
          <p:nvPr/>
        </p:nvSpPr>
        <p:spPr>
          <a:xfrm>
            <a:off x="548640" y="1737360"/>
            <a:ext cx="11064240" cy="2377440"/>
          </a:xfrm>
          <a:prstGeom prst="rect">
            <a:avLst/>
          </a:prstGeom>
          <a:noFill/>
          <a:ln/>
        </p:spPr>
        <p:txBody>
          <a:bodyPr wrap="square" lIns="0" tIns="0" rIns="0" bIns="0" rtlCol="0" anchor="t"/>
          <a:lstStyle/>
          <a:p>
            <a:pPr indent="0" marL="0">
              <a:lnSpc>
                <a:spcPts val="2900"/>
              </a:lnSpc>
              <a:spcAft>
                <a:spcPts val="900"/>
              </a:spcAft>
              <a:buNone/>
            </a:pPr>
            <a:r>
              <a:rPr lang="en-US" sz="1700" dirty="0">
                <a:solidFill>
                  <a:srgbClr val="2B2B2B"/>
                </a:solidFill>
                <a:latin typeface="Calibri" pitchFamily="34" charset="0"/>
                <a:ea typeface="Calibri" pitchFamily="34" charset="-122"/>
                <a:cs typeface="Calibri" pitchFamily="34" charset="-120"/>
              </a:rPr>
              <a:t>Governance before generation.</a:t>
            </a:r>
            <a:endParaRPr lang="en-US" sz="1700" dirty="0"/>
          </a:p>
          <a:p>
            <a:pPr indent="0" marL="0">
              <a:lnSpc>
                <a:spcPts val="2900"/>
              </a:lnSpc>
              <a:spcAft>
                <a:spcPts val="900"/>
              </a:spcAft>
              <a:buNone/>
            </a:pPr>
            <a:r>
              <a:rPr lang="en-US" sz="1700" dirty="0">
                <a:solidFill>
                  <a:srgbClr val="2B2B2B"/>
                </a:solidFill>
                <a:latin typeface="Calibri" pitchFamily="34" charset="0"/>
                <a:ea typeface="Calibri" pitchFamily="34" charset="-122"/>
                <a:cs typeface="Calibri" pitchFamily="34" charset="-120"/>
              </a:rPr>
              <a:t>This study addresses this gap through a governance-before-generation approach.</a:t>
            </a:r>
            <a:endParaRPr lang="en-US" sz="1700" dirty="0"/>
          </a:p>
          <a:p>
            <a:pPr indent="0" marL="0">
              <a:lnSpc>
                <a:spcPts val="2900"/>
              </a:lnSpc>
              <a:spcAft>
                <a:spcPts val="900"/>
              </a:spcAft>
              <a:buNone/>
            </a:pPr>
            <a:r>
              <a:rPr lang="en-US" sz="1700" dirty="0">
                <a:solidFill>
                  <a:srgbClr val="2B2B2B"/>
                </a:solidFill>
                <a:latin typeface="Calibri" pitchFamily="34" charset="0"/>
                <a:ea typeface="Calibri" pitchFamily="34" charset="-122"/>
                <a:cs typeface="Calibri" pitchFamily="34" charset="-120"/>
              </a:rPr>
              <a:t>The contribution is an operational paradigm: governance-before-generation for cultural heritage AI.</a:t>
            </a:r>
            <a:endParaRPr lang="en-US" sz="17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ordering is a falsifiable claim, not a slogan: if governance were merely additive, constraining the retrieval scope would not change the error profile. Act VI tests exactly that, and Act VII concedes what the test cannot separate.</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Abstract; §1 Introduction</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0 · FRAME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Roadmap</a:t>
            </a:r>
            <a:endParaRPr lang="en-US" sz="2700" dirty="0"/>
          </a:p>
        </p:txBody>
      </p:sp>
      <p:sp>
        <p:nvSpPr>
          <p:cNvPr id="4" name="Text 2"/>
          <p:cNvSpPr txBox="1"/>
          <p:nvPr/>
        </p:nvSpPr>
        <p:spPr>
          <a:xfrm>
            <a:off x="548640" y="1481328"/>
            <a:ext cx="11064240" cy="3429000"/>
          </a:xfrm>
          <a:prstGeom prst="rect">
            <a:avLst/>
          </a:prstGeom>
          <a:noFill/>
          <a:ln/>
        </p:spPr>
        <p:txBody>
          <a:bodyPr wrap="square" lIns="0" tIns="0" rIns="0" bIns="0" rtlCol="0" anchor="t"/>
          <a:lstStyle/>
          <a:p>
            <a:pPr indent="0" marL="0">
              <a:lnSpc>
                <a:spcPts val="2400"/>
              </a:lnSpc>
              <a:spcAft>
                <a:spcPts val="900"/>
              </a:spcAft>
              <a:buNone/>
            </a:pPr>
            <a:r>
              <a:rPr lang="en-US" sz="1400" dirty="0">
                <a:solidFill>
                  <a:srgbClr val="2B2B2B"/>
                </a:solidFill>
                <a:latin typeface="Calibri" pitchFamily="34" charset="0"/>
                <a:ea typeface="Calibri" pitchFamily="34" charset="-122"/>
                <a:cs typeface="Calibri" pitchFamily="34" charset="-120"/>
              </a:rPr>
              <a:t>I. Background — Xinwu, stone weirs, and knowledge held by a community</a:t>
            </a:r>
            <a:endParaRPr lang="en-US" sz="1400" dirty="0"/>
          </a:p>
          <a:p>
            <a:pPr indent="0" marL="0">
              <a:lnSpc>
                <a:spcPts val="2400"/>
              </a:lnSpc>
              <a:spcAft>
                <a:spcPts val="900"/>
              </a:spcAft>
              <a:buNone/>
            </a:pPr>
            <a:r>
              <a:rPr lang="en-US" sz="1400" dirty="0">
                <a:solidFill>
                  <a:srgbClr val="2B2B2B"/>
                </a:solidFill>
                <a:latin typeface="Calibri" pitchFamily="34" charset="0"/>
                <a:ea typeface="Calibri" pitchFamily="34" charset="-122"/>
                <a:cs typeface="Calibri" pitchFamily="34" charset="-120"/>
              </a:rPr>
              <a:t>II. Problem — three epistemic risks and the missing pathway</a:t>
            </a:r>
            <a:endParaRPr lang="en-US" sz="1400" dirty="0"/>
          </a:p>
          <a:p>
            <a:pPr indent="0" marL="0">
              <a:lnSpc>
                <a:spcPts val="2400"/>
              </a:lnSpc>
              <a:spcAft>
                <a:spcPts val="900"/>
              </a:spcAft>
              <a:buNone/>
            </a:pPr>
            <a:r>
              <a:rPr lang="en-US" sz="1400" dirty="0">
                <a:solidFill>
                  <a:srgbClr val="2B2B2B"/>
                </a:solidFill>
                <a:latin typeface="Calibri" pitchFamily="34" charset="0"/>
                <a:ea typeface="Calibri" pitchFamily="34" charset="-122"/>
                <a:cs typeface="Calibri" pitchFamily="34" charset="-120"/>
              </a:rPr>
              <a:t>III. Position — governance as architectural constraint</a:t>
            </a:r>
            <a:endParaRPr lang="en-US" sz="1400" dirty="0"/>
          </a:p>
          <a:p>
            <a:pPr indent="0" marL="0">
              <a:lnSpc>
                <a:spcPts val="2400"/>
              </a:lnSpc>
              <a:spcAft>
                <a:spcPts val="900"/>
              </a:spcAft>
              <a:buNone/>
            </a:pPr>
            <a:r>
              <a:rPr lang="en-US" sz="1400" dirty="0">
                <a:solidFill>
                  <a:srgbClr val="2B2B2B"/>
                </a:solidFill>
                <a:latin typeface="Calibri" pitchFamily="34" charset="0"/>
                <a:ea typeface="Calibri" pitchFamily="34" charset="-122"/>
                <a:cs typeface="Calibri" pitchFamily="34" charset="-120"/>
              </a:rPr>
              <a:t>IV. Design — the three-layer artifact</a:t>
            </a:r>
            <a:endParaRPr lang="en-US" sz="1400" dirty="0"/>
          </a:p>
          <a:p>
            <a:pPr indent="0" marL="0">
              <a:lnSpc>
                <a:spcPts val="2400"/>
              </a:lnSpc>
              <a:spcAft>
                <a:spcPts val="900"/>
              </a:spcAft>
              <a:buNone/>
            </a:pPr>
            <a:r>
              <a:rPr lang="en-US" sz="1400" dirty="0">
                <a:solidFill>
                  <a:srgbClr val="2B2B2B"/>
                </a:solidFill>
                <a:latin typeface="Calibri" pitchFamily="34" charset="0"/>
                <a:ea typeface="Calibri" pitchFamily="34" charset="-122"/>
                <a:cs typeface="Calibri" pitchFamily="34" charset="-120"/>
              </a:rPr>
              <a:t>V. Case and instrument — 35 governed records, 24 QA items</a:t>
            </a:r>
            <a:endParaRPr lang="en-US" sz="1400" dirty="0"/>
          </a:p>
          <a:p>
            <a:pPr indent="0" marL="0">
              <a:lnSpc>
                <a:spcPts val="2400"/>
              </a:lnSpc>
              <a:spcAft>
                <a:spcPts val="900"/>
              </a:spcAft>
              <a:buNone/>
            </a:pPr>
            <a:r>
              <a:rPr lang="en-US" sz="1400" dirty="0">
                <a:solidFill>
                  <a:srgbClr val="2B2B2B"/>
                </a:solidFill>
                <a:latin typeface="Calibri" pitchFamily="34" charset="0"/>
                <a:ea typeface="Calibri" pitchFamily="34" charset="-122"/>
                <a:cs typeface="Calibri" pitchFamily="34" charset="-120"/>
              </a:rPr>
              <a:t>VI. Evidence — RQ1, RQ2, RQ3</a:t>
            </a:r>
            <a:endParaRPr lang="en-US" sz="1400" dirty="0"/>
          </a:p>
          <a:p>
            <a:pPr indent="0" marL="0">
              <a:lnSpc>
                <a:spcPts val="2400"/>
              </a:lnSpc>
              <a:spcAft>
                <a:spcPts val="900"/>
              </a:spcAft>
              <a:buNone/>
            </a:pPr>
            <a:r>
              <a:rPr lang="en-US" sz="1400" dirty="0">
                <a:solidFill>
                  <a:srgbClr val="2B2B2B"/>
                </a:solidFill>
                <a:latin typeface="Calibri" pitchFamily="34" charset="0"/>
                <a:ea typeface="Calibri" pitchFamily="34" charset="-122"/>
                <a:cs typeface="Calibri" pitchFamily="34" charset="-120"/>
              </a:rPr>
              <a:t>VII. Reading the evidence honestly</a:t>
            </a:r>
            <a:endParaRPr lang="en-US" sz="1400" dirty="0"/>
          </a:p>
          <a:p>
            <a:pPr indent="0" marL="0">
              <a:lnSpc>
                <a:spcPts val="2400"/>
              </a:lnSpc>
              <a:spcAft>
                <a:spcPts val="900"/>
              </a:spcAft>
              <a:buNone/>
            </a:pPr>
            <a:r>
              <a:rPr lang="en-US" sz="1400" dirty="0">
                <a:solidFill>
                  <a:srgbClr val="2B2B2B"/>
                </a:solidFill>
                <a:latin typeface="Calibri" pitchFamily="34" charset="0"/>
                <a:ea typeface="Calibri" pitchFamily="34" charset="-122"/>
                <a:cs typeface="Calibri" pitchFamily="34" charset="-120"/>
              </a:rPr>
              <a:t>VIII. Contribution   ·   IX. Forward and close</a:t>
            </a:r>
            <a:endParaRPr lang="en-US" sz="14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talk follows the artifact's own dependency order, not the paper's section order: each act supplies the precondition the next one consumes.</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Structural slide</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place</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2000"/>
              </a:lnSpc>
              <a:spcAft>
                <a:spcPts val="900"/>
              </a:spcAft>
              <a:buNone/>
            </a:pPr>
            <a:r>
              <a:rPr lang="en-US" sz="1350" dirty="0">
                <a:solidFill>
                  <a:srgbClr val="2B2B2B"/>
                </a:solidFill>
                <a:latin typeface="Calibri" pitchFamily="34" charset="0"/>
                <a:ea typeface="Calibri" pitchFamily="34" charset="-122"/>
                <a:cs typeface="Calibri" pitchFamily="34" charset="-120"/>
              </a:rPr>
              <a:t>Stone weirs along Taiwan's coast embody socio-ecological production landscapes recognized by the Satoyama Initiative (UNU-IAS &amp; IGES, 2010).</a:t>
            </a:r>
            <a:endParaRPr lang="en-US" sz="1350" dirty="0"/>
          </a:p>
          <a:p>
            <a:pPr indent="0" marL="0">
              <a:lnSpc>
                <a:spcPts val="2000"/>
              </a:lnSpc>
              <a:spcAft>
                <a:spcPts val="900"/>
              </a:spcAft>
              <a:buNone/>
            </a:pPr>
            <a:r>
              <a:rPr lang="en-US" sz="1350" dirty="0">
                <a:solidFill>
                  <a:srgbClr val="2B2B2B"/>
                </a:solidFill>
                <a:latin typeface="Calibri" pitchFamily="34" charset="0"/>
                <a:ea typeface="Calibri" pitchFamily="34" charset="-122"/>
                <a:cs typeface="Calibri" pitchFamily="34" charset="-120"/>
              </a:rPr>
              <a:t>Xinwu lies on Taoyuan's western coast, along Provincial Highway 61: a coastal protection forest of 黃槿, 木麻黃, 白千層, 朴樹, 烏臼 and 構樹; wind turbines; a gravel beach; and intertidal flats worked at every tide.</a:t>
            </a:r>
            <a:endParaRPr lang="en-US" sz="13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SEPLS designation is not scene-setting. It asserts that this landscape is produced by human practice — so the data describing it is community-authored, and authority over that data is a community right, not a courtesy.</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Para. 1 verbatim: §2. Para. 2: source narrative (Chi, n.d.)</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spc="80" kern="0"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400"/>
              </a:lnSpc>
              <a:spcAft>
                <a:spcPts val="1100"/>
              </a:spcAft>
              <a:buNone/>
            </a:pPr>
            <a:r>
              <a:rPr lang="en-US" sz="950" dirty="0">
                <a:solidFill>
                  <a:srgbClr val="5C6B7E"/>
                </a:solidFill>
                <a:latin typeface="Calibri" pitchFamily="34" charset="0"/>
                <a:ea typeface="Calibri" pitchFamily="34" charset="-122"/>
                <a:cs typeface="Calibri" pitchFamily="34" charset="-120"/>
              </a:rPr>
              <a:t>海岸全景：低潮時的礫石灘與潮間帶，遠方地平線上是台 61 線的白色風車。橫幅構圖。目的是建立尺度感——石滏應該讀起來像一段仍在運作的海岸線，而不是紀念物。</a:t>
            </a:r>
            <a:endParaRPr lang="en-US" sz="950" dirty="0"/>
          </a:p>
          <a:p>
            <a:pPr indent="0" marL="0">
              <a:lnSpc>
                <a:spcPts val="1400"/>
              </a:lnSpc>
              <a:buNone/>
            </a:pPr>
            <a:r>
              <a:rPr lang="en-US" sz="900" i="1" dirty="0">
                <a:solidFill>
                  <a:srgbClr val="7A8898"/>
                </a:solidFill>
                <a:latin typeface="Calibri" pitchFamily="34" charset="0"/>
                <a:ea typeface="Calibri" pitchFamily="34" charset="-122"/>
                <a:cs typeface="Calibri" pitchFamily="34" charset="-120"/>
              </a:rPr>
              <a:t>A wide coastal shot: the gravel beach and intertidal flats at low tide, with the wind turbines of Highway 61 on the horizon. Landscape orientation. Its job is to establish scale — the weirs should read as part of a working shoreline, not a monument.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layers of the landscape</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Algal reef (藻礁) — formed by crustose coralline algae that calcify after death and settle on the gravel beach. Unlike the coral reef most people know, it is not animal-formed. It grows about one centimetre every ten years.</a:t>
            </a:r>
            <a:endParaRPr lang="en-US" sz="1300" dirty="0"/>
          </a:p>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Coastal protection forest (保安林) — 黃槿, 木麻黃, 白千層, 朴樹, 烏臼, 構樹.</a:t>
            </a:r>
            <a:endParaRPr lang="en-US" sz="1300" dirty="0"/>
          </a:p>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Stone weirs — on the intertidal zone, where the tide does the fishing.</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One centimetre per decade is exactly the kind of fact a language model approximates rather than retrieves — right order of magnitude, wrong value. Slide 15 shows it doing precisely that.</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Source narrative (Chi, n.d.); the growth rate is governed record OB-02</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spc="80" kern="0"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400"/>
              </a:lnSpc>
              <a:spcAft>
                <a:spcPts val="1100"/>
              </a:spcAft>
              <a:buNone/>
            </a:pPr>
            <a:r>
              <a:rPr lang="en-US" sz="950" dirty="0">
                <a:solidFill>
                  <a:srgbClr val="5C6B7E"/>
                </a:solidFill>
                <a:latin typeface="Calibri" pitchFamily="34" charset="0"/>
                <a:ea typeface="Calibri" pitchFamily="34" charset="-122"/>
                <a:cs typeface="Calibri" pitchFamily="34" charset="-120"/>
              </a:rPr>
              <a:t>藻礁表面的低角度特寫：層疊而略帶孔隙的質地，最好是濕潤反光的狀態。畫面中放一枚硬幣或一隻手作為比例尺——因為這一頁的重點是：一公分花了十年。</a:t>
            </a:r>
            <a:endParaRPr lang="en-US" sz="950" dirty="0"/>
          </a:p>
          <a:p>
            <a:pPr indent="0" marL="0">
              <a:lnSpc>
                <a:spcPts val="1400"/>
              </a:lnSpc>
              <a:buNone/>
            </a:pPr>
            <a:r>
              <a:rPr lang="en-US" sz="900" i="1" dirty="0">
                <a:solidFill>
                  <a:srgbClr val="7A8898"/>
                </a:solidFill>
                <a:latin typeface="Calibri" pitchFamily="34" charset="0"/>
                <a:ea typeface="Calibri" pitchFamily="34" charset="-122"/>
                <a:cs typeface="Calibri" pitchFamily="34" charset="-120"/>
              </a:rPr>
              <a:t>A close, low-angle detail of the algal reef surface — the layered, slightly porous texture, ideally wet and catching light. Include a coin or a hand for scale: the point of this slide is that one centimetre took ten years.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a stone weir is — and what it is called here</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A stone weir is a tidal fish trap: a wall built at the shore that takes its catch from the fall of the tide.</a:t>
            </a:r>
            <a:endParaRPr lang="en-US" sz="1300" dirty="0"/>
          </a:p>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In Xinwu, Hakka communities developed unique fishing-specific vocabulary — shihwen (石塭) for stone weirs, liushueilai (流水來) for rising tide.</a:t>
            </a:r>
            <a:endParaRPr lang="en-US" sz="1300" dirty="0"/>
          </a:p>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Hakka shihwen (石塭) vs Mandarin shihhu (石滬) retained across records.</a:t>
            </a:r>
            <a:endParaRPr lang="en-US" sz="1300" dirty="0"/>
          </a:p>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Penghu builds from coral rock and basalt; Xinwu gathers local cobbles (鵝卵石).</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Two lexicons for one object mean a retrieval system must preserve the distinction rather than normalise it. Normalisation is silent cultural loss: a fluent answer, wrong in a way no fluency check detects.</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Paras. 2–3 verbatim: §2; §5.2. Para. 4: source narrative</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6</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spc="80" kern="0"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400"/>
              </a:lnSpc>
              <a:spcAft>
                <a:spcPts val="1100"/>
              </a:spcAft>
              <a:buNone/>
            </a:pPr>
            <a:r>
              <a:rPr lang="en-US" sz="950" dirty="0">
                <a:solidFill>
                  <a:srgbClr val="5C6B7E"/>
                </a:solidFill>
                <a:latin typeface="Calibri" pitchFamily="34" charset="0"/>
                <a:ea typeface="Calibri" pitchFamily="34" charset="-122"/>
                <a:cs typeface="Calibri" pitchFamily="34" charset="-120"/>
              </a:rPr>
              <a:t>低潮時從堤上或空中俯瞰石滏的弧形滏堤，讓圍捕結構一眼可辨。空拍最佳。若只有地面視角，請選能看見鵝卵石砧法（而非哾咕石）的那一張。</a:t>
            </a:r>
            <a:endParaRPr lang="en-US" sz="950" dirty="0"/>
          </a:p>
          <a:p>
            <a:pPr indent="0" marL="0">
              <a:lnSpc>
                <a:spcPts val="1400"/>
              </a:lnSpc>
              <a:buNone/>
            </a:pPr>
            <a:r>
              <a:rPr lang="en-US" sz="900" i="1" dirty="0">
                <a:solidFill>
                  <a:srgbClr val="7A8898"/>
                </a:solidFill>
                <a:latin typeface="Calibri" pitchFamily="34" charset="0"/>
                <a:ea typeface="Calibri" pitchFamily="34" charset="-122"/>
                <a:cs typeface="Calibri" pitchFamily="34" charset="-120"/>
              </a:rPr>
              <a:t>The curved arm of a weir seen from above or from the seawall at low tide, so the enclosure reads as a deliberate structure. An aerial frame is ideal; if only a ground-level shot exists, choose one where the cobble construction — not coral rock — is visible.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Hakka at the sea — the stereotype this overturns</a:t>
            </a:r>
            <a:endParaRPr lang="en-US" sz="2700" dirty="0"/>
          </a:p>
        </p:txBody>
      </p:sp>
      <p:sp>
        <p:nvSpPr>
          <p:cNvPr id="4" name="Text 2"/>
          <p:cNvSpPr txBox="1"/>
          <p:nvPr/>
        </p:nvSpPr>
        <p:spPr>
          <a:xfrm>
            <a:off x="548640" y="1481328"/>
            <a:ext cx="11064240" cy="3429000"/>
          </a:xfrm>
          <a:prstGeom prst="rect">
            <a:avLst/>
          </a:prstGeom>
          <a:noFill/>
          <a:ln/>
        </p:spPr>
        <p:txBody>
          <a:bodyPr wrap="square" lIns="0" tIns="0" rIns="0" bIns="0" rtlCol="0" anchor="t"/>
          <a:lstStyle/>
          <a:p>
            <a:pPr indent="0" marL="0">
              <a:lnSpc>
                <a:spcPts val="2000"/>
              </a:lnSpc>
              <a:spcAft>
                <a:spcPts val="900"/>
              </a:spcAft>
              <a:buNone/>
            </a:pPr>
            <a:r>
              <a:rPr lang="en-US" sz="1350" dirty="0">
                <a:solidFill>
                  <a:srgbClr val="2B2B2B"/>
                </a:solidFill>
                <a:latin typeface="Calibri" pitchFamily="34" charset="0"/>
                <a:ea typeface="Calibri" pitchFamily="34" charset="-122"/>
                <a:cs typeface="Calibri" pitchFamily="34" charset="-120"/>
              </a:rPr>
              <a:t>In Xinwu, Hakka communities developed unique fishing-specific vocabulary … that challenges the stereotype of Hakka as exclusively mountain-dwelling people. This knowledge exists primarily in qualitative narratives.</a:t>
            </a:r>
            <a:endParaRPr lang="en-US" sz="1350" dirty="0"/>
          </a:p>
          <a:p>
            <a:pPr indent="0" marL="0">
              <a:lnSpc>
                <a:spcPts val="2000"/>
              </a:lnSpc>
              <a:spcAft>
                <a:spcPts val="900"/>
              </a:spcAft>
              <a:buNone/>
            </a:pPr>
            <a:r>
              <a:rPr lang="en-US" sz="1350" dirty="0">
                <a:solidFill>
                  <a:srgbClr val="2B2B2B"/>
                </a:solidFill>
                <a:latin typeface="Calibri" pitchFamily="34" charset="0"/>
                <a:ea typeface="Calibri" pitchFamily="34" charset="-122"/>
                <a:cs typeface="Calibri" pitchFamily="34" charset="-120"/>
              </a:rPr>
              <a:t>A 2010 Hakka fishing-village cultural resource survey (College of Hakka Studies, NCU) recorded vocabulary with no counterpart inland: 流水來 rising tide, 湧 waves, 鐵甲仔 armoured fish, 蚵咾石 coral rock.</a:t>
            </a:r>
            <a:endParaRPr lang="en-US" sz="1350" dirty="0"/>
          </a:p>
          <a:p>
            <a:pPr indent="0" marL="0">
              <a:lnSpc>
                <a:spcPts val="2000"/>
              </a:lnSpc>
              <a:spcAft>
                <a:spcPts val="900"/>
              </a:spcAft>
              <a:buNone/>
            </a:pPr>
            <a:r>
              <a:rPr lang="en-US" sz="1350" dirty="0">
                <a:solidFill>
                  <a:srgbClr val="2B2B2B"/>
                </a:solidFill>
                <a:latin typeface="Calibri" pitchFamily="34" charset="0"/>
                <a:ea typeface="Calibri" pitchFamily="34" charset="-122"/>
                <a:cs typeface="Calibri" pitchFamily="34" charset="-120"/>
              </a:rPr>
              <a:t>近山識鳥聲，近海知魚性 — by the hills you learn birdsong; by the sea, the ways of fish.</a:t>
            </a:r>
            <a:endParaRPr lang="en-US" sz="13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If a 2010 field survey was needed to record this vocabulary, it is by definition thin in any web-scale training corpus. Under-representation — not model size — predicts the failure shown at slide 15.</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Para. 1 verbatim: §2. Paras. 2–3: source narrative (Chi, n.d.)</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Knowledge held by a community, not an institution</a:t>
            </a:r>
            <a:endParaRPr lang="en-US" sz="2700" dirty="0"/>
          </a:p>
        </p:txBody>
      </p:sp>
      <p:sp>
        <p:nvSpPr>
          <p:cNvPr id="4" name="Text 2"/>
          <p:cNvSpPr txBox="1"/>
          <p:nvPr/>
        </p:nvSpPr>
        <p:spPr>
          <a:xfrm>
            <a:off x="548640" y="1417320"/>
            <a:ext cx="11064240" cy="640080"/>
          </a:xfrm>
          <a:prstGeom prst="rect">
            <a:avLst/>
          </a:prstGeom>
          <a:noFill/>
          <a:ln/>
        </p:spPr>
        <p:txBody>
          <a:bodyPr wrap="square" lIns="0" tIns="0" rIns="0" bIns="0" rtlCol="0" anchor="t"/>
          <a:lstStyle/>
          <a:p>
            <a:pPr indent="0" marL="0">
              <a:lnSpc>
                <a:spcPts val="1900"/>
              </a:lnSpc>
              <a:buNone/>
            </a:pPr>
            <a:r>
              <a:rPr lang="en-US" sz="1300" dirty="0">
                <a:solidFill>
                  <a:srgbClr val="2B2B2B"/>
                </a:solidFill>
                <a:latin typeface="Calibri" pitchFamily="34" charset="0"/>
                <a:ea typeface="Calibri" pitchFamily="34" charset="-122"/>
                <a:cs typeface="Calibri" pitchFamily="34" charset="-120"/>
              </a:rPr>
              <a:t>Stone weir knowledge in Xinwu, maintained by Hakka fishing communities, exemplifies this challenge: centuries of ecological practice, linguistic heritage, and place-based identity encoded in context-rich narratives that resist direct ontological formalization.</a:t>
            </a:r>
            <a:endParaRPr lang="en-US" sz="1300" dirty="0"/>
          </a:p>
        </p:txBody>
      </p:sp>
      <p:pic>
        <p:nvPicPr>
          <p:cNvPr id="5" name="Image 0" descr="/home/claude/g_timeline.png">    </p:cNvPr>
          <p:cNvPicPr>
            <a:picLocks noChangeAspect="1"/>
          </p:cNvPicPr>
          <p:nvPr/>
        </p:nvPicPr>
        <p:blipFill>
          <a:blip r:embed="rId1"/>
          <a:stretch>
            <a:fillRect/>
          </a:stretch>
        </p:blipFill>
        <p:spPr>
          <a:xfrm>
            <a:off x="640080" y="2148840"/>
            <a:ext cx="10881360" cy="3145536"/>
          </a:xfrm>
          <a:prstGeom prst="rect">
            <a:avLst/>
          </a:prstGeom>
        </p:spPr>
      </p:pic>
      <p:sp>
        <p:nvSpPr>
          <p:cNvPr id="6" name="Text 3"/>
          <p:cNvSpPr txBox="1"/>
          <p:nvPr/>
        </p:nvSpPr>
        <p:spPr>
          <a:xfrm>
            <a:off x="548640" y="5321808"/>
            <a:ext cx="11064240" cy="274320"/>
          </a:xfrm>
          <a:prstGeom prst="rect">
            <a:avLst/>
          </a:prstGeom>
          <a:noFill/>
          <a:ln/>
        </p:spPr>
        <p:txBody>
          <a:bodyPr wrap="square" lIns="0" tIns="0" rIns="0" bIns="0" rtlCol="0" anchor="ctr"/>
          <a:lstStyle/>
          <a:p>
            <a:pPr indent="0" marL="0">
              <a:buNone/>
            </a:pPr>
            <a:r>
              <a:rPr lang="en-US" sz="1050" i="1" dirty="0">
                <a:solidFill>
                  <a:srgbClr val="7A7A7A"/>
                </a:solidFill>
                <a:latin typeface="Calibri" pitchFamily="34" charset="0"/>
                <a:ea typeface="Calibri" pitchFamily="34" charset="-122"/>
                <a:cs typeface="Calibri" pitchFamily="34" charset="-120"/>
              </a:rPr>
              <a:t>The patrol grew from single-digit volunteers to more than thirty formal members. Yongxing's weirs were lost to years without maintenance, date unrecorded.</a:t>
            </a:r>
            <a:endParaRPr lang="en-US" sz="1050" dirty="0"/>
          </a:p>
        </p:txBody>
      </p:sp>
      <p:sp>
        <p:nvSpPr>
          <p:cNvPr id="7" name="Text 4"/>
          <p:cNvSpPr txBox="1"/>
          <p:nvPr/>
        </p:nvSpPr>
        <p:spPr>
          <a:xfrm>
            <a:off x="548640" y="5623560"/>
            <a:ext cx="11064240" cy="64008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custodian is an association of volunteers, not an institution with a registrar. Any governance scheme that presumes institutional capacity is unusable here — P3 arriving three slides early, as a fact rather than a claim.</a:t>
            </a:r>
            <a:endParaRPr lang="en-US" sz="1000" dirty="0"/>
          </a:p>
        </p:txBody>
      </p:sp>
      <p:sp>
        <p:nvSpPr>
          <p:cNvPr id="8" name="Text 5"/>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Para. 1 verbatim: §1. Timeline: source narrative (Chi, n.d.)</a:t>
            </a:r>
            <a:endParaRPr lang="en-US" sz="900" dirty="0"/>
          </a:p>
        </p:txBody>
      </p:sp>
      <p:sp>
        <p:nvSpPr>
          <p:cNvPr id="9" name="Text 6"/>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Governance already exists on the ground</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The weirs are distributed across three villages — 蚵間, 深圳, 永興. The weirs at Yongxing are already gone, lost to years without maintenance.</a:t>
            </a:r>
            <a:endParaRPr lang="en-US" sz="1300" dirty="0"/>
          </a:p>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In 2019 Taoyuan City registered Kejian weirs No. 2, 3 and 6 as a cultural landscape under the Cultural Heritage Preservation Act.</a:t>
            </a:r>
            <a:endParaRPr lang="en-US" sz="1300" dirty="0"/>
          </a:p>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Repair runs on a tide schedule, not a work schedule. The volunteers are electricians, taxi drivers, factory owners — whoever has hours flexible enough to come when the water allows.</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Governance is already here in three forms — legal, social and lossy. The system does not introduce governance to this community; it makes the governance they already practise machine-readable.</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Source narrative (Chi, n.d.); the Act also appears as a baseline QA item in §5.3</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9</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spc="80" kern="0"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400"/>
              </a:lnSpc>
              <a:spcAft>
                <a:spcPts val="1100"/>
              </a:spcAft>
              <a:buNone/>
            </a:pPr>
            <a:r>
              <a:rPr lang="en-US" sz="950" dirty="0">
                <a:solidFill>
                  <a:srgbClr val="5C6B7E"/>
                </a:solidFill>
                <a:latin typeface="Calibri" pitchFamily="34" charset="0"/>
                <a:ea typeface="Calibri" pitchFamily="34" charset="-122"/>
                <a:cs typeface="Calibri" pitchFamily="34" charset="-120"/>
              </a:rPr>
              <a:t>退潮時志工徒手搬石修復石滏的畫面，最好有數人同時彎腰工作。這是全份簡報最重要的一張照片：它是「此地的治理是依潮汐排程的無償勞動」的視覺證據，而這正是第 47 頁轉化為規模限制的那件事。</a:t>
            </a:r>
            <a:endParaRPr lang="en-US" sz="950" dirty="0"/>
          </a:p>
          <a:p>
            <a:pPr indent="0" marL="0">
              <a:lnSpc>
                <a:spcPts val="1400"/>
              </a:lnSpc>
              <a:buNone/>
            </a:pPr>
            <a:r>
              <a:rPr lang="en-US" sz="900" i="1" dirty="0">
                <a:solidFill>
                  <a:srgbClr val="7A8898"/>
                </a:solidFill>
                <a:latin typeface="Calibri" pitchFamily="34" charset="0"/>
                <a:ea typeface="Calibri" pitchFamily="34" charset="-122"/>
                <a:cs typeface="Calibri" pitchFamily="34" charset="-120"/>
              </a:rPr>
              <a:t>Volunteers rebuilding a weir at low tide — several people, bent over, moving cobbles by hand. The most important photograph in the deck: visual evidence that governance here is unpaid physical labour on a tide schedule, which is what slide 47 turns into a scaling constraint.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Living knowledge that was never written down</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xianhaifan (鹹醢飯) cultural transformation captured in cross-referenced narrative and object records.</a:t>
            </a:r>
            <a:endParaRPr lang="en-US" sz="1300" dirty="0"/>
          </a:p>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The dish began as preservation: surplus catch kept with salt, garlic and rice wine, served over rice.</a:t>
            </a:r>
            <a:endParaRPr lang="en-US" sz="1300" dirty="0"/>
          </a:p>
          <a:p>
            <a:pPr indent="0" marL="0">
              <a:lnSpc>
                <a:spcPts val="1900"/>
              </a:lnSpc>
              <a:spcAft>
                <a:spcPts val="900"/>
              </a:spcAft>
              <a:buNone/>
            </a:pPr>
            <a:r>
              <a:rPr lang="en-US" sz="1300" dirty="0">
                <a:solidFill>
                  <a:srgbClr val="2B2B2B"/>
                </a:solidFill>
                <a:latin typeface="Calibri" pitchFamily="34" charset="0"/>
                <a:ea typeface="Calibri" pitchFamily="34" charset="-122"/>
                <a:cs typeface="Calibri" pitchFamily="34" charset="-120"/>
              </a:rPr>
              <a:t>Alongside it: 月桃 leaves that scent rice cakes; 朴樹 seeds used as air-gun pellets; 蔓荊, thriving in drought, wind and salt, read locally as the Hakka 硬頸 — stiff-necked — spirit.</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A recipe, a metaphor and an embodied practice are exactly the record types with no natural CIDOC class. The ontology strain reported at slide 35 begins here, in the material, not in the modelling.</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Para. 1 verbatim: §5.2. Paras. 2–3: source narrative; ingredients are record OB-04</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10</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spc="80" kern="0"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400"/>
              </a:lnSpc>
              <a:spcAft>
                <a:spcPts val="1100"/>
              </a:spcAft>
              <a:buNone/>
            </a:pPr>
            <a:r>
              <a:rPr lang="en-US" sz="950" dirty="0">
                <a:solidFill>
                  <a:srgbClr val="5C6B7E"/>
                </a:solidFill>
                <a:latin typeface="Calibri" pitchFamily="34" charset="0"/>
                <a:ea typeface="Calibri" pitchFamily="34" charset="-122"/>
                <a:cs typeface="Calibri" pitchFamily="34" charset="-120"/>
              </a:rPr>
              <a:t>二選一：故事館供應的鹹醢飯，或開闊沙地上開花的蔓荊。若希望隱喻在視覺上成立，選蔓荊：一株在鹽風中仍然鮮亮的小植物，不需旁白就能帶出「硬頸」的讀法。也可做成雙圖並置。</a:t>
            </a:r>
            <a:endParaRPr lang="en-US" sz="950" dirty="0"/>
          </a:p>
          <a:p>
            <a:pPr indent="0" marL="0">
              <a:lnSpc>
                <a:spcPts val="1400"/>
              </a:lnSpc>
              <a:buNone/>
            </a:pPr>
            <a:r>
              <a:rPr lang="en-US" sz="900" i="1" dirty="0">
                <a:solidFill>
                  <a:srgbClr val="7A8898"/>
                </a:solidFill>
                <a:latin typeface="Calibri" pitchFamily="34" charset="0"/>
                <a:ea typeface="Calibri" pitchFamily="34" charset="-122"/>
                <a:cs typeface="Calibri" pitchFamily="34" charset="-120"/>
              </a:rPr>
              <a:t>Either a bowl of 鹹醢飯 as served at the Story Hall, or 蔓荊 flowering on the open sand. Prefer the 蔓荊 if you want the metaphor to land visually — a small bright plant surviving salt and wind carries the 硬頸 reading without narration.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…and today it exists as one published narrative</a:t>
            </a:r>
            <a:endParaRPr lang="en-US" sz="2700" dirty="0"/>
          </a:p>
        </p:txBody>
      </p:sp>
      <p:sp>
        <p:nvSpPr>
          <p:cNvPr id="4" name="Text 2"/>
          <p:cNvSpPr txBox="1"/>
          <p:nvPr/>
        </p:nvSpPr>
        <p:spPr>
          <a:xfrm>
            <a:off x="548640" y="1554480"/>
            <a:ext cx="11064240" cy="3108960"/>
          </a:xfrm>
          <a:prstGeom prst="rect">
            <a:avLst/>
          </a:prstGeom>
          <a:noFill/>
          <a:ln/>
        </p:spPr>
        <p:txBody>
          <a:bodyPr wrap="square" lIns="0" tIns="0" rIns="0" bIns="0" rtlCol="0" anchor="t"/>
          <a:lstStyle/>
          <a:p>
            <a:pPr indent="0" marL="0">
              <a:lnSpc>
                <a:spcPts val="2200"/>
              </a:lnSpc>
              <a:spcAft>
                <a:spcPts val="900"/>
              </a:spcAft>
              <a:buNone/>
            </a:pPr>
            <a:r>
              <a:rPr lang="en-US" sz="1450" dirty="0">
                <a:solidFill>
                  <a:srgbClr val="2B2B2B"/>
                </a:solidFill>
                <a:latin typeface="Calibri" pitchFamily="34" charset="0"/>
                <a:ea typeface="Calibri" pitchFamily="34" charset="-122"/>
                <a:cs typeface="Calibri" pitchFamily="34" charset="-120"/>
              </a:rPr>
              <a:t>A single representative narrative was selected: a published cultural reportage on Xinwu stone weir heritage by Chi Wen-Fen (~4,000 Chinese characters). The case-based strategy prioritizes governance completeness over scale.</a:t>
            </a:r>
            <a:endParaRPr lang="en-US" sz="1450" dirty="0"/>
          </a:p>
          <a:p>
            <a:pPr indent="0" marL="0">
              <a:lnSpc>
                <a:spcPts val="2200"/>
              </a:lnSpc>
              <a:spcAft>
                <a:spcPts val="900"/>
              </a:spcAft>
              <a:buNone/>
            </a:pPr>
            <a:r>
              <a:rPr lang="en-US" sz="1450" dirty="0">
                <a:solidFill>
                  <a:srgbClr val="2B2B2B"/>
                </a:solidFill>
                <a:latin typeface="Calibri" pitchFamily="34" charset="0"/>
                <a:ea typeface="Calibri" pitchFamily="34" charset="-122"/>
                <a:cs typeface="Calibri" pitchFamily="34" charset="-120"/>
              </a:rPr>
              <a:t>Already public. Already attributed. About a living community.</a:t>
            </a:r>
            <a:endParaRPr lang="en-US" sz="14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Once community knowledge becomes a published text the consent question changes shape: consent to publish is not consent to machine ingestion. The paper's "assumed" FPIC status is a placeholder for a distinction the governance literature has not settled.</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Para. 1 verbatim: §3.2 Case-Based Mini Dataset</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Everything in Act I returns as evidence</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4114800"/>
                <a:gridCol w="5120640"/>
                <a:gridCol w="182880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Background fact</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Returns as</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Slide</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Algal reef ≈ 1 cm / 10 years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Quantitative distortion (OB-02)</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15 · 38</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石塭 vs 石滬</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Vocabulary precision 6/6 vs 3/6</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15 · 34 · 36</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Story Hall = former police dormitory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Fabricated specificity (PL-03)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15 · 38</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Volunteer patrol → association, 2007</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E5 Event compression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蚵間 / 深圳 / 永興 hierarchy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Geo-privacy tiering (PL-05/06/07)</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24 · 33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鹹醢飯 = salt, garlic, rice wine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Ingredient fabrication (OB-04)</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蔓荊 / 硬頸 metaphor</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E73 vs E20 strain (NE-05)</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Published, attributed, living community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FPIC "assumed" → the CARE gap</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42 · 46</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Volunteers with day jobs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Human-in-the-loop throughput limit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532120"/>
            <a:ext cx="11064240" cy="73152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Nothing in this act is scene-setting. Each fact is a seed planted so that the audience recognises the failure at slide 15 before it is explained — and so that each later finding lands as a return rather than as a new claim.</a:t>
            </a:r>
            <a:endParaRPr lang="en-US" sz="10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Structural slide — the spine of the talk</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Capability has outpaced accountability</a:t>
            </a:r>
            <a:endParaRPr lang="en-US" sz="2700" dirty="0"/>
          </a:p>
        </p:txBody>
      </p:sp>
      <p:sp>
        <p:nvSpPr>
          <p:cNvPr id="4" name="Text 2"/>
          <p:cNvSpPr txBox="1"/>
          <p:nvPr/>
        </p:nvSpPr>
        <p:spPr>
          <a:xfrm>
            <a:off x="548640" y="1417320"/>
            <a:ext cx="11064240" cy="777240"/>
          </a:xfrm>
          <a:prstGeom prst="rect">
            <a:avLst/>
          </a:prstGeom>
          <a:noFill/>
          <a:ln/>
        </p:spPr>
        <p:txBody>
          <a:bodyPr wrap="square" lIns="0" tIns="0" rIns="0" bIns="0" rtlCol="0" anchor="t"/>
          <a:lstStyle/>
          <a:p>
            <a:pPr indent="0" marL="0">
              <a:lnSpc>
                <a:spcPts val="2100"/>
              </a:lnSpc>
              <a:buNone/>
            </a:pPr>
            <a:r>
              <a:rPr lang="en-US" sz="1400" dirty="0">
                <a:solidFill>
                  <a:srgbClr val="2B2B2B"/>
                </a:solidFill>
                <a:latin typeface="Calibri" pitchFamily="34" charset="0"/>
                <a:ea typeface="Calibri" pitchFamily="34" charset="-122"/>
                <a:cs typeface="Calibri" pitchFamily="34" charset="-120"/>
              </a:rPr>
              <a:t>AI is entering cultural heritage domains with powerful generation capabilities, yet epistemic risks — hallucination, misattribution, and location exposure — are acute when the underlying data comprises community-held qualitative narratives rather than structured institutional collections (Lewis et al., 2020; Shuster et al., 2021).</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64240" cy="914400"/>
        </p:xfrm>
        <a:graphic>
          <a:graphicData uri="http://schemas.openxmlformats.org/drawingml/2006/table">
            <a:tbl>
              <a:tblPr/>
              <a:tblGrid>
                <a:gridCol w="2468880"/>
                <a:gridCol w="5394960"/>
                <a:gridCol w="320040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Epistemic risk in this paper</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Expropriation mechanism (Menotti 2025)</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Where it is measured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Hallucination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Decontextualisation — artifacts stripped of material and historical specificity</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Hallucination rate · slide 36</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Misattribution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Erasure of authorship — sources compressed into statistical pattern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Citation accuracy · slide 36</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Location exposure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Extraction without consent — material taken from its governance context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Geo-privacy incidents · slide 32</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074920"/>
            <a:ext cx="11064240" cy="9144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three risks are not three bugs. They are three consequences of one architectural choice — letting the model, rather than the data, decide what counts as an answer — and an independent 2025 analysis of generative AI in heritage arrives at the same triad from the opposite direction.</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Row 1 verbatim: §1 Introduction. Mapping: Menotti (2025), AI &amp; Society</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Why the Act I material amplifies all three</a:t>
            </a:r>
            <a:endParaRPr lang="en-US" sz="2700" dirty="0"/>
          </a:p>
        </p:txBody>
      </p:sp>
      <p:sp>
        <p:nvSpPr>
          <p:cNvPr id="4" name="Text 2"/>
          <p:cNvSpPr txBox="1"/>
          <p:nvPr/>
        </p:nvSpPr>
        <p:spPr>
          <a:xfrm>
            <a:off x="548640" y="1371600"/>
            <a:ext cx="11064240" cy="320040"/>
          </a:xfrm>
          <a:prstGeom prst="rect">
            <a:avLst/>
          </a:prstGeom>
          <a:noFill/>
          <a:ln/>
        </p:spPr>
        <p:txBody>
          <a:bodyPr wrap="square" lIns="0" tIns="0" rIns="0" bIns="0" rtlCol="0" anchor="ctr"/>
          <a:lstStyle/>
          <a:p>
            <a:pPr indent="0" marL="0">
              <a:buNone/>
            </a:pPr>
            <a:r>
              <a:rPr lang="en-US" sz="1300" i="1" dirty="0">
                <a:solidFill>
                  <a:srgbClr val="7A7A7A"/>
                </a:solidFill>
                <a:latin typeface="Calibri" pitchFamily="34" charset="0"/>
                <a:ea typeface="Calibri" pitchFamily="34" charset="-122"/>
                <a:cs typeface="Calibri" pitchFamily="34" charset="-120"/>
              </a:rPr>
              <a:t>Centuries of ecological practice, linguistic heritage, and place-based identity encoded in context-rich narratives that resist direct ontological formalization.</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2926080"/>
                <a:gridCol w="3931920"/>
                <a:gridCol w="4206240"/>
              </a:tblGrid>
              <a:tr h="0">
                <a:tc>
                  <a:txBody>
                    <a:bodyPr/>
                    <a:lstStyle/>
                    <a:p>
                      <a:pPr algn="l" indent="0" marL="0">
                        <a:buNone/>
                      </a:pP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 structured institutional collection</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Community-held narrative  (this case)</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Custodian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registrar and a catalogue department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thirty-member volunteer association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Form of the record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Conforms to a schema before it is used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Metaphor, memory and embodied practice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Corrective signal for a model</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catalogue it can be checked against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None — there is nothing to be wrong against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Bound on the error rate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The catalogue's coverage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Only how much the model is willing to guess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Consent status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Held and recorded by the institution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Undocumented until this study created the field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2578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This is the precise sense in which the domain is harder than the museum-catalogue case most cultural-heritage AI work assumes. Do not let the audience hear "heritage data" generically.</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Quoted line verbatim: §1 Introduction. Comparison added for this talk</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Concrete failure, before any theory</a:t>
            </a:r>
            <a:endParaRPr lang="en-US" sz="2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291840"/>
                <a:gridCol w="4937760"/>
                <a:gridCol w="283464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The question asked</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the unconstrained model produced</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Failure mechanism</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The Stone Weir Story Hall's previous use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former community centre or administrative office"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Invented category — fabricated specificity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The Hakka term for stone weirs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distinct word", without ever producing the term</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non-answer shaped like an answer</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The algal reef growth rate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few millimetres per year, or roughly one centimetre every several decades"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Approximated magnitude — quantitative distortion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0292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Three errors, three distinct mechanisms, one prompt style. That is why no prompt-level fix covers them — and why the audience, who learned all three facts ten minutes ago, can catch each one before it is explained.</a:t>
            </a:r>
            <a:endParaRPr lang="en-US" sz="10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Quoted answers verbatim: §5.3 AI Reliability. Mechanism column added for this talk</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Existing frameworks are individually robust</a:t>
            </a:r>
            <a:endParaRPr lang="en-US" sz="27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Existing frameworks — FAIR, CARE, CIDOC-CRM, PROV-O — are individually robust but presuppose institutional capacities that small community organizations lack.</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3017520"/>
                <a:gridCol w="3108960"/>
                <a:gridCol w="3291840"/>
                <a:gridCol w="164592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Framework</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it provides</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The role it presupposes</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Present in Xinwu?</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FAIR  (Wilkinson et al., 2016)</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Machine-actionable metadata</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repository, with staff to maintain it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CARE  (Carroll et al., 2020)</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Community authority over data</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designated data steward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CIDOC-CRM  (Doerr, 2003)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Semantic interoperability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trained cataloguer</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PROV-O  (W3C, 2013)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Provenance traceability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workflow system that emits it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0292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Each framework assumes a role that does not exist in Xinwu. The gap is organisational before it is conceptual — which is why the answer has to be a schema cheap enough for volunteers, not a better standard.</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Sentence verbatim: §1 Introduction. Role and presence columns added for this talk</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gap</a:t>
            </a:r>
            <a:endParaRPr lang="en-US" sz="2700" dirty="0"/>
          </a:p>
        </p:txBody>
      </p:sp>
      <p:sp>
        <p:nvSpPr>
          <p:cNvPr id="4" name="Text 2"/>
          <p:cNvSpPr txBox="1"/>
          <p:nvPr/>
        </p:nvSpPr>
        <p:spPr>
          <a:xfrm>
            <a:off x="548640" y="1371600"/>
            <a:ext cx="11064240" cy="411480"/>
          </a:xfrm>
          <a:prstGeom prst="rect">
            <a:avLst/>
          </a:prstGeom>
          <a:noFill/>
          <a:ln/>
        </p:spPr>
        <p:txBody>
          <a:bodyPr wrap="square" lIns="0" tIns="0" rIns="0" bIns="0" rtlCol="0" anchor="ctr"/>
          <a:lstStyle/>
          <a:p>
            <a:pPr indent="0" marL="0">
              <a:lnSpc>
                <a:spcPts val="2000"/>
              </a:lnSpc>
              <a:buNone/>
            </a:pPr>
            <a:r>
              <a:rPr lang="en-US" sz="1350" dirty="0">
                <a:solidFill>
                  <a:srgbClr val="2B2B2B"/>
                </a:solidFill>
                <a:latin typeface="Calibri" pitchFamily="34" charset="0"/>
                <a:ea typeface="Calibri" pitchFamily="34" charset="-122"/>
                <a:cs typeface="Calibri" pitchFamily="34" charset="-120"/>
              </a:rPr>
              <a:t>Carroll et al. (2021) note that operationalizing FAIR with CARE remains an open challenge. No established pathway exists for communities to incrementally build governed, AI-ready datasets from raw narratives.</a:t>
            </a:r>
            <a:endParaRPr lang="en-US" sz="1350" dirty="0"/>
          </a:p>
        </p:txBody>
      </p:sp>
      <p:pic>
        <p:nvPicPr>
          <p:cNvPr id="5" name="Image 0" descr="/home/claude/g_gap.png">    </p:cNvPr>
          <p:cNvPicPr>
            <a:picLocks noChangeAspect="1"/>
          </p:cNvPicPr>
          <p:nvPr/>
        </p:nvPicPr>
        <p:blipFill>
          <a:blip r:embed="rId1"/>
          <a:stretch>
            <a:fillRect/>
          </a:stretch>
        </p:blipFill>
        <p:spPr>
          <a:xfrm>
            <a:off x="685800" y="1965960"/>
            <a:ext cx="10789920" cy="2962656"/>
          </a:xfrm>
          <a:prstGeom prst="rect">
            <a:avLst/>
          </a:prstGeom>
        </p:spPr>
      </p:pic>
      <p:sp>
        <p:nvSpPr>
          <p:cNvPr id="6" name="Text 3"/>
          <p:cNvSpPr txBox="1"/>
          <p:nvPr/>
        </p:nvSpPr>
        <p:spPr>
          <a:xfrm>
            <a:off x="548640" y="512064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Carroll et al. name the problem at the level of principle. This study answers at the level of a record schema — the move from "should" to "which field, filled in by whom, in how many minutes".</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§1 Introduction; §2 Background and Problem</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III · POSITION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Two possible orderings</a:t>
            </a:r>
            <a:endParaRPr lang="en-US" sz="2700" dirty="0"/>
          </a:p>
        </p:txBody>
      </p:sp>
      <p:pic>
        <p:nvPicPr>
          <p:cNvPr id="4" name="Image 0" descr="/home/claude/g_ordering.png">    </p:cNvPr>
          <p:cNvPicPr>
            <a:picLocks noChangeAspect="1"/>
          </p:cNvPicPr>
          <p:nvPr/>
        </p:nvPicPr>
        <p:blipFill>
          <a:blip r:embed="rId1"/>
          <a:stretch>
            <a:fillRect/>
          </a:stretch>
        </p:blipFill>
        <p:spPr>
          <a:xfrm>
            <a:off x="594360" y="1600200"/>
            <a:ext cx="10972800" cy="3639312"/>
          </a:xfrm>
          <a:prstGeom prst="rect">
            <a:avLst/>
          </a:prstGeom>
        </p:spPr>
      </p:pic>
      <p:sp>
        <p:nvSpPr>
          <p:cNvPr id="5" name="Text 2"/>
          <p:cNvSpPr txBox="1"/>
          <p:nvPr/>
        </p:nvSpPr>
        <p:spPr>
          <a:xfrm>
            <a:off x="548640" y="5440680"/>
            <a:ext cx="11064240" cy="77724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Auditing after generation can only sample outputs; gating before retrieval constrains the output space itself. The difference is detection versus prevention — and detection fails exactly where confident hedging succeeds (slide 39).</a:t>
            </a:r>
            <a:endParaRPr lang="en-US" sz="10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Ordering A characterised in §2: "Current approaches often prioritize AI generation before establishing governance"</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III · POSITION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proposition</a:t>
            </a:r>
            <a:endParaRPr lang="en-US" sz="2700" dirty="0"/>
          </a:p>
        </p:txBody>
      </p:sp>
      <p:sp>
        <p:nvSpPr>
          <p:cNvPr id="4" name="Text 2"/>
          <p:cNvSpPr txBox="1"/>
          <p:nvPr/>
        </p:nvSpPr>
        <p:spPr>
          <a:xfrm>
            <a:off x="548640" y="1627632"/>
            <a:ext cx="11064240" cy="2286000"/>
          </a:xfrm>
          <a:prstGeom prst="rect">
            <a:avLst/>
          </a:prstGeom>
          <a:noFill/>
          <a:ln/>
        </p:spPr>
        <p:txBody>
          <a:bodyPr wrap="square" lIns="0" tIns="0" rIns="0" bIns="0" rtlCol="0" anchor="t"/>
          <a:lstStyle/>
          <a:p>
            <a:pPr indent="0" marL="0">
              <a:lnSpc>
                <a:spcPts val="2500"/>
              </a:lnSpc>
              <a:spcAft>
                <a:spcPts val="900"/>
              </a:spcAft>
              <a:buNone/>
            </a:pPr>
            <a:r>
              <a:rPr lang="en-US" sz="1500" dirty="0">
                <a:solidFill>
                  <a:srgbClr val="2B2B2B"/>
                </a:solidFill>
                <a:latin typeface="Calibri" pitchFamily="34" charset="0"/>
                <a:ea typeface="Calibri" pitchFamily="34" charset="-122"/>
                <a:cs typeface="Calibri" pitchFamily="34" charset="-120"/>
              </a:rPr>
              <a:t>…treating governance as architectural constraint rather than afterthought.</a:t>
            </a:r>
            <a:endParaRPr lang="en-US" sz="1500" dirty="0"/>
          </a:p>
          <a:p>
            <a:pPr indent="0" marL="0">
              <a:lnSpc>
                <a:spcPts val="2500"/>
              </a:lnSpc>
              <a:spcAft>
                <a:spcPts val="900"/>
              </a:spcAft>
              <a:buNone/>
            </a:pPr>
            <a:r>
              <a:rPr lang="en-US" sz="1500" dirty="0">
                <a:solidFill>
                  <a:srgbClr val="2B2B2B"/>
                </a:solidFill>
                <a:latin typeface="Calibri" pitchFamily="34" charset="0"/>
                <a:ea typeface="Calibri" pitchFamily="34" charset="-122"/>
                <a:cs typeface="Calibri" pitchFamily="34" charset="-120"/>
              </a:rPr>
              <a:t>The architecture (Figure 1) enforces governance-before-generation.</a:t>
            </a:r>
            <a:endParaRPr lang="en-US" sz="1500" dirty="0"/>
          </a:p>
          <a:p>
            <a:pPr indent="0" marL="0">
              <a:lnSpc>
                <a:spcPts val="2500"/>
              </a:lnSpc>
              <a:spcAft>
                <a:spcPts val="900"/>
              </a:spcAft>
              <a:buNone/>
            </a:pPr>
            <a:r>
              <a:rPr lang="en-US" sz="1500" dirty="0">
                <a:solidFill>
                  <a:srgbClr val="2B2B2B"/>
                </a:solidFill>
                <a:latin typeface="Calibri" pitchFamily="34" charset="0"/>
                <a:ea typeface="Calibri" pitchFamily="34" charset="-122"/>
                <a:cs typeface="Calibri" pitchFamily="34" charset="-120"/>
              </a:rPr>
              <a:t>The ethics-forward designation means governance is a primary design constraint addressing misattribution, hallucination, and location exposure from the outset.</a:t>
            </a:r>
            <a:endParaRPr lang="en-US" sz="15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"Architectural constraint" carries a testable meaning: remove the governance layer and the system must lose a capability, not merely a document. Act VII concedes that this study did not isolate that test.</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§2; §4 System Architecture; §3.1 Research Design</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III · POSITION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research questions, one per layer</a:t>
            </a:r>
            <a:endParaRPr lang="en-US" sz="2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914400"/>
                <a:gridCol w="5943600"/>
                <a:gridCol w="2468880"/>
                <a:gridCol w="1737360"/>
              </a:tblGrid>
              <a:tr h="0">
                <a:tc>
                  <a:txBody>
                    <a:bodyPr/>
                    <a:lstStyle/>
                    <a:p>
                      <a:pPr algn="l" indent="0" marL="0">
                        <a:buNone/>
                      </a:pP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Research question</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Layer</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RQ1</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Can community-scale data be governed using integrated FAIR, CARE, FPIC, and human-in-the-loop validation?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L1  Data governance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Slides 32–33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RQ2</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Can qualitative narratives be transformed into CIDOC-CRM/PROV-O structures while preserving cultural meaning?</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L2  Semantic transformation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Slides 34–35</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RQ3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Does governance-aware RAG improve source-groundedness and reduce hallucination?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L3  AI knowledge access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Slides 36–39</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0292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three questions are ordered by dependency, not by importance: RQ2 is unanswerable if RQ1 fails, and RQ3 is uninterpretable if RQ2 fails. The evidence must be read in that order.</a:t>
            </a:r>
            <a:endParaRPr lang="en-US" sz="10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Questions verbatim: §1 Introduction. Layer and evidence mapping added for this talk</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III · POSITION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Paradigm and maturity</a:t>
            </a:r>
            <a:endParaRPr lang="en-US" sz="27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lnSpc>
                <a:spcPts val="2100"/>
              </a:lnSpc>
              <a:buNone/>
            </a:pPr>
            <a:r>
              <a:rPr lang="en-US" sz="1400" dirty="0">
                <a:solidFill>
                  <a:srgbClr val="2B2B2B"/>
                </a:solidFill>
                <a:latin typeface="Calibri" pitchFamily="34" charset="0"/>
                <a:ea typeface="Calibri" pitchFamily="34" charset="-122"/>
                <a:cs typeface="Calibri" pitchFamily="34" charset="-120"/>
              </a:rPr>
              <a:t>This study adopts Design Science Research (Hevner et al., 2004; Peffers et al., 2007) at TRL-3 (Mankins, 1995), producing a governance-first knowledge pipeline as designed artifact.</a:t>
            </a:r>
            <a:endParaRPr lang="en-US" sz="1400" dirty="0"/>
          </a:p>
        </p:txBody>
      </p:sp>
      <p:pic>
        <p:nvPicPr>
          <p:cNvPr id="5" name="Image 0" descr="/home/claude/g_dsr.png">    </p:cNvPr>
          <p:cNvPicPr>
            <a:picLocks noChangeAspect="1"/>
          </p:cNvPicPr>
          <p:nvPr/>
        </p:nvPicPr>
        <p:blipFill>
          <a:blip r:embed="rId1"/>
          <a:stretch>
            <a:fillRect/>
          </a:stretch>
        </p:blipFill>
        <p:spPr>
          <a:xfrm>
            <a:off x="640080" y="2148840"/>
            <a:ext cx="10881360" cy="3145536"/>
          </a:xfrm>
          <a:prstGeom prst="rect">
            <a:avLst/>
          </a:prstGeom>
        </p:spPr>
      </p:pic>
      <p:sp>
        <p:nvSpPr>
          <p:cNvPr id="6" name="Text 3"/>
          <p:cNvSpPr txBox="1"/>
          <p:nvPr/>
        </p:nvSpPr>
        <p:spPr>
          <a:xfrm>
            <a:off x="548640" y="5486400"/>
            <a:ext cx="11064240" cy="77724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DSR fixes what counts as a contribution — a demonstrated artifact — and TRL-3 fixes what counts as sufficient evidence. The three unfinished items are not scattered: all three sit inside the evaluation activity.</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Sentence verbatim: §3.1. Activity mapping: Peffers et al. 2007; TRL definition: NASA</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three-layer architecture</a:t>
            </a:r>
            <a:endParaRPr lang="en-US" sz="2700" dirty="0"/>
          </a:p>
        </p:txBody>
      </p:sp>
      <p:pic>
        <p:nvPicPr>
          <p:cNvPr id="4" name="Image 0" descr="/home/claude/fig1.png">    </p:cNvPr>
          <p:cNvPicPr>
            <a:picLocks noChangeAspect="1"/>
          </p:cNvPicPr>
          <p:nvPr/>
        </p:nvPicPr>
        <p:blipFill>
          <a:blip r:embed="rId1"/>
          <a:stretch>
            <a:fillRect/>
          </a:stretch>
        </p:blipFill>
        <p:spPr>
          <a:xfrm>
            <a:off x="502920" y="1371600"/>
            <a:ext cx="5806440" cy="4306824"/>
          </a:xfrm>
          <a:prstGeom prst="rect">
            <a:avLst/>
          </a:prstGeom>
        </p:spPr>
      </p:pic>
      <p:sp>
        <p:nvSpPr>
          <p:cNvPr id="5" name="Text 2"/>
          <p:cNvSpPr txBox="1"/>
          <p:nvPr/>
        </p:nvSpPr>
        <p:spPr>
          <a:xfrm>
            <a:off x="6583680" y="1371600"/>
            <a:ext cx="5074920" cy="914400"/>
          </a:xfrm>
          <a:prstGeom prst="rect">
            <a:avLst/>
          </a:prstGeom>
          <a:noFill/>
          <a:ln/>
        </p:spPr>
        <p:txBody>
          <a:bodyPr wrap="square" lIns="0" tIns="0" rIns="0" bIns="0" rtlCol="0" anchor="ctr"/>
          <a:lstStyle/>
          <a:p>
            <a:pPr indent="0" marL="0">
              <a:lnSpc>
                <a:spcPts val="1500"/>
              </a:lnSpc>
              <a:buNone/>
            </a:pPr>
            <a:r>
              <a:rPr lang="en-US" sz="1100" i="1" dirty="0">
                <a:solidFill>
                  <a:srgbClr val="7A7A7A"/>
                </a:solidFill>
                <a:latin typeface="Calibri" pitchFamily="34" charset="0"/>
                <a:ea typeface="Calibri" pitchFamily="34" charset="-122"/>
                <a:cs typeface="Calibri" pitchFamily="34" charset="-120"/>
              </a:rPr>
              <a:t>Layer 1 enforces FAIR, CARE, FPIC and geo-privacy as prerequisites. Layer 2 maps governed records to minimal CIDOC-CRM with PROV-O chains. Layer 3 enables source-grounded QA and guided narratives via RAG.</a:t>
            </a:r>
            <a:endParaRPr lang="en-US" sz="1100" dirty="0"/>
          </a:p>
        </p:txBody>
      </p:sp>
      <p:sp>
        <p:nvSpPr>
          <p:cNvPr id="6" name="Text 3"/>
          <p:cNvSpPr txBox="1"/>
          <p:nvPr/>
        </p:nvSpPr>
        <p:spPr>
          <a:xfrm>
            <a:off x="6583680" y="2395728"/>
            <a:ext cx="5074920" cy="3108960"/>
          </a:xfrm>
          <a:prstGeom prst="rect">
            <a:avLst/>
          </a:prstGeom>
          <a:noFill/>
          <a:ln/>
        </p:spPr>
        <p:txBody>
          <a:bodyPr wrap="square" lIns="0" tIns="0" rIns="0" bIns="0" rtlCol="0" anchor="t"/>
          <a:lstStyle/>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1  </a:t>
            </a:r>
            <a:pPr indent="0" marL="0">
              <a:lnSpc>
                <a:spcPts val="1600"/>
              </a:lnSpc>
              <a:spcAft>
                <a:spcPts val="700"/>
              </a:spcAft>
              <a:buNone/>
            </a:pPr>
            <a:r>
              <a:rPr lang="en-US" sz="1150" dirty="0">
                <a:solidFill>
                  <a:srgbClr val="2B2B2B"/>
                </a:solidFill>
                <a:latin typeface="Calibri" pitchFamily="34" charset="0"/>
                <a:ea typeface="Calibri" pitchFamily="34" charset="-122"/>
                <a:cs typeface="Calibri" pitchFamily="34" charset="-120"/>
              </a:rPr>
              <a:t>Read it bottom to top. The arrow direction is the argument: nothing reaches Layer 2 that Layer 1 has not passed.</a:t>
            </a:r>
            <a:endParaRPr lang="en-US" sz="1150" dirty="0"/>
          </a:p>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2  </a:t>
            </a:r>
            <a:pPr indent="0" marL="0">
              <a:lnSpc>
                <a:spcPts val="1600"/>
              </a:lnSpc>
              <a:spcAft>
                <a:spcPts val="700"/>
              </a:spcAft>
              <a:buNone/>
            </a:pPr>
            <a:r>
              <a:rPr lang="en-US" sz="1150" dirty="0">
                <a:solidFill>
                  <a:srgbClr val="2B2B2B"/>
                </a:solidFill>
                <a:latin typeface="Calibri" pitchFamily="34" charset="0"/>
                <a:ea typeface="Calibri" pitchFamily="34" charset="-122"/>
                <a:cs typeface="Calibri" pitchFamily="34" charset="-120"/>
              </a:rPr>
              <a:t>The label on the lower arrow — "governance gates data flow" — is the whole claim in four words.</a:t>
            </a:r>
            <a:endParaRPr lang="en-US" sz="1150" dirty="0"/>
          </a:p>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3  </a:t>
            </a:r>
            <a:pPr indent="0" marL="0">
              <a:lnSpc>
                <a:spcPts val="1600"/>
              </a:lnSpc>
              <a:spcAft>
                <a:spcPts val="700"/>
              </a:spcAft>
              <a:buNone/>
            </a:pPr>
            <a:r>
              <a:rPr lang="en-US" sz="1150" dirty="0">
                <a:solidFill>
                  <a:srgbClr val="2B2B2B"/>
                </a:solidFill>
                <a:latin typeface="Calibri" pitchFamily="34" charset="0"/>
                <a:ea typeface="Calibri" pitchFamily="34" charset="-122"/>
                <a:cs typeface="Calibri" pitchFamily="34" charset="-120"/>
              </a:rPr>
              <a:t>Layer 2 is deliberately four classes wide. Width here is an adoption cost, not a capability.</a:t>
            </a:r>
            <a:endParaRPr lang="en-US" sz="1150" dirty="0"/>
          </a:p>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4  </a:t>
            </a:r>
            <a:pPr indent="0" marL="0">
              <a:lnSpc>
                <a:spcPts val="1600"/>
              </a:lnSpc>
              <a:spcAft>
                <a:spcPts val="700"/>
              </a:spcAft>
              <a:buNone/>
            </a:pPr>
            <a:r>
              <a:rPr lang="en-US" sz="1150" dirty="0">
                <a:solidFill>
                  <a:srgbClr val="2B2B2B"/>
                </a:solidFill>
                <a:latin typeface="Calibri" pitchFamily="34" charset="0"/>
                <a:ea typeface="Calibri" pitchFamily="34" charset="-122"/>
                <a:cs typeface="Calibri" pitchFamily="34" charset="-120"/>
              </a:rPr>
              <a:t>PROV-O sits beside the CRM classes, not inside them: provenance is a property of the record, not of its type.</a:t>
            </a:r>
            <a:endParaRPr lang="en-US" sz="1150" dirty="0"/>
          </a:p>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5  </a:t>
            </a:r>
            <a:pPr indent="0" marL="0">
              <a:lnSpc>
                <a:spcPts val="1600"/>
              </a:lnSpc>
              <a:spcAft>
                <a:spcPts val="700"/>
              </a:spcAft>
              <a:buNone/>
            </a:pPr>
            <a:r>
              <a:rPr lang="en-US" sz="1150" dirty="0">
                <a:solidFill>
                  <a:srgbClr val="2B2B2B"/>
                </a:solidFill>
                <a:latin typeface="Calibri" pitchFamily="34" charset="0"/>
                <a:ea typeface="Calibri" pitchFamily="34" charset="-122"/>
                <a:cs typeface="Calibri" pitchFamily="34" charset="-120"/>
              </a:rPr>
              <a:t>The purple column spans all three layers. Provenance and geo-privacy are cross-cutting, so they cannot be delegated to one stage.</a:t>
            </a:r>
            <a:endParaRPr lang="en-US" sz="1150" dirty="0"/>
          </a:p>
        </p:txBody>
      </p:sp>
      <p:sp>
        <p:nvSpPr>
          <p:cNvPr id="7" name="Text 4"/>
          <p:cNvSpPr txBox="1"/>
          <p:nvPr/>
        </p:nvSpPr>
        <p:spPr>
          <a:xfrm>
            <a:off x="548640" y="5623560"/>
            <a:ext cx="11064240" cy="64008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A layered diagram usually shows decomposition. This one shows precedence — which is why the arrows, not the boxes, carry the claim.</a:t>
            </a:r>
            <a:endParaRPr lang="en-US" sz="1000" dirty="0"/>
          </a:p>
        </p:txBody>
      </p:sp>
      <p:sp>
        <p:nvSpPr>
          <p:cNvPr id="8" name="Text 5"/>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Figure 1, verbatim caption (condensed). Annotations added for this talk</a:t>
            </a:r>
            <a:endParaRPr lang="en-US" sz="900" dirty="0"/>
          </a:p>
        </p:txBody>
      </p:sp>
      <p:sp>
        <p:nvSpPr>
          <p:cNvPr id="9" name="Text 6"/>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Reading the gate: what Layer 1 actually stops</a:t>
            </a:r>
            <a:endParaRPr lang="en-US" sz="2700" dirty="0"/>
          </a:p>
        </p:txBody>
      </p:sp>
      <p:pic>
        <p:nvPicPr>
          <p:cNvPr id="4" name="Image 0" descr="/home/claude/fig1_layer1.png">    </p:cNvPr>
          <p:cNvPicPr>
            <a:picLocks noChangeAspect="1"/>
          </p:cNvPicPr>
          <p:nvPr/>
        </p:nvPicPr>
        <p:blipFill>
          <a:blip r:embed="rId1"/>
          <a:stretch>
            <a:fillRect/>
          </a:stretch>
        </p:blipFill>
        <p:spPr>
          <a:xfrm>
            <a:off x="960120" y="1600200"/>
            <a:ext cx="10241280" cy="2843784"/>
          </a:xfrm>
          <a:prstGeom prst="rect">
            <a:avLst/>
          </a:prstGeom>
        </p:spPr>
      </p:pic>
      <p:sp>
        <p:nvSpPr>
          <p:cNvPr id="5" name="Text 2"/>
          <p:cNvSpPr txBox="1"/>
          <p:nvPr/>
        </p:nvSpPr>
        <p:spPr>
          <a:xfrm>
            <a:off x="548640" y="4846320"/>
            <a:ext cx="5349240" cy="1371600"/>
          </a:xfrm>
          <a:prstGeom prst="rect">
            <a:avLst/>
          </a:prstGeom>
          <a:noFill/>
          <a:ln/>
        </p:spPr>
        <p:txBody>
          <a:bodyPr wrap="square" lIns="0" tIns="0" rIns="0" bIns="0" rtlCol="0" anchor="t"/>
          <a:lstStyle/>
          <a:p>
            <a:pPr indent="0" marL="0">
              <a:lnSpc>
                <a:spcPts val="1450"/>
              </a:lnSpc>
              <a:buNone/>
            </a:pPr>
            <a:r>
              <a:rPr lang="en-US" sz="1050" b="1" dirty="0">
                <a:solidFill>
                  <a:srgbClr val="1E2761"/>
                </a:solidFill>
                <a:latin typeface="Calibri" pitchFamily="34" charset="0"/>
                <a:ea typeface="Calibri" pitchFamily="34" charset="-122"/>
                <a:cs typeface="Calibri" pitchFamily="34" charset="-120"/>
              </a:rPr>
              <a:t>FAIR  </a:t>
            </a:r>
            <a:pPr indent="0" marL="0">
              <a:lnSpc>
                <a:spcPts val="1450"/>
              </a:lnSpc>
              <a:spcAft>
                <a:spcPts val="700"/>
              </a:spcAft>
              <a:buNone/>
            </a:pPr>
            <a:r>
              <a:rPr lang="en-US" sz="1050" dirty="0">
                <a:solidFill>
                  <a:srgbClr val="2B2B2B"/>
                </a:solidFill>
                <a:latin typeface="Calibri" pitchFamily="34" charset="0"/>
                <a:ea typeface="Calibri" pitchFamily="34" charset="-122"/>
                <a:cs typeface="Calibri" pitchFamily="34" charset="-120"/>
              </a:rPr>
              <a:t>Findable, Accessible, Interoperable, Reusable — makes the record usable by a machine. Says nothing about who may use it.</a:t>
            </a:r>
            <a:endParaRPr lang="en-US" sz="1050" dirty="0"/>
          </a:p>
          <a:p>
            <a:pPr indent="0" marL="0">
              <a:lnSpc>
                <a:spcPts val="1450"/>
              </a:lnSpc>
              <a:buNone/>
            </a:pPr>
            <a:r>
              <a:rPr lang="en-US" sz="1050" b="1" dirty="0">
                <a:solidFill>
                  <a:srgbClr val="1E2761"/>
                </a:solidFill>
                <a:latin typeface="Calibri" pitchFamily="34" charset="0"/>
                <a:ea typeface="Calibri" pitchFamily="34" charset="-122"/>
                <a:cs typeface="Calibri" pitchFamily="34" charset="-120"/>
              </a:rPr>
              <a:t>CARE  </a:t>
            </a:r>
            <a:pPr indent="0" marL="0">
              <a:lnSpc>
                <a:spcPts val="1450"/>
              </a:lnSpc>
              <a:spcAft>
                <a:spcPts val="700"/>
              </a:spcAft>
              <a:buNone/>
            </a:pPr>
            <a:r>
              <a:rPr lang="en-US" sz="1050" dirty="0">
                <a:solidFill>
                  <a:srgbClr val="2B2B2B"/>
                </a:solidFill>
                <a:latin typeface="Calibri" pitchFamily="34" charset="0"/>
                <a:ea typeface="Calibri" pitchFamily="34" charset="-122"/>
                <a:cs typeface="Calibri" pitchFamily="34" charset="-120"/>
              </a:rPr>
              <a:t>Collective Benefit, Authority to Control, Responsibility, Ethics — supplies exactly what FAIR omits: relationships, power, and the conditions of collection.</a:t>
            </a:r>
            <a:endParaRPr lang="en-US" sz="1050" dirty="0"/>
          </a:p>
        </p:txBody>
      </p:sp>
      <p:sp>
        <p:nvSpPr>
          <p:cNvPr id="6" name="Text 3"/>
          <p:cNvSpPr txBox="1"/>
          <p:nvPr/>
        </p:nvSpPr>
        <p:spPr>
          <a:xfrm>
            <a:off x="6080760" y="4846320"/>
            <a:ext cx="5349240" cy="1371600"/>
          </a:xfrm>
          <a:prstGeom prst="rect">
            <a:avLst/>
          </a:prstGeom>
          <a:noFill/>
          <a:ln/>
        </p:spPr>
        <p:txBody>
          <a:bodyPr wrap="square" lIns="0" tIns="0" rIns="0" bIns="0" rtlCol="0" anchor="t"/>
          <a:lstStyle/>
          <a:p>
            <a:pPr indent="0" marL="0">
              <a:lnSpc>
                <a:spcPts val="1450"/>
              </a:lnSpc>
              <a:buNone/>
            </a:pPr>
            <a:r>
              <a:rPr lang="en-US" sz="1050" b="1" dirty="0">
                <a:solidFill>
                  <a:srgbClr val="1E2761"/>
                </a:solidFill>
                <a:latin typeface="Calibri" pitchFamily="34" charset="0"/>
                <a:ea typeface="Calibri" pitchFamily="34" charset="-122"/>
                <a:cs typeface="Calibri" pitchFamily="34" charset="-120"/>
              </a:rPr>
              <a:t>FPIC  </a:t>
            </a:r>
            <a:pPr indent="0" marL="0">
              <a:lnSpc>
                <a:spcPts val="1450"/>
              </a:lnSpc>
              <a:spcAft>
                <a:spcPts val="700"/>
              </a:spcAft>
              <a:buNone/>
            </a:pPr>
            <a:r>
              <a:rPr lang="en-US" sz="1050" dirty="0">
                <a:solidFill>
                  <a:srgbClr val="2B2B2B"/>
                </a:solidFill>
                <a:latin typeface="Calibri" pitchFamily="34" charset="0"/>
                <a:ea typeface="Calibri" pitchFamily="34" charset="-122"/>
                <a:cs typeface="Calibri" pitchFamily="34" charset="-120"/>
              </a:rPr>
              <a:t>Free, Prior and Informed Consent — a decision point the system must read before retrieval, not after generation.</a:t>
            </a:r>
            <a:endParaRPr lang="en-US" sz="1050" dirty="0"/>
          </a:p>
          <a:p>
            <a:pPr indent="0" marL="0">
              <a:lnSpc>
                <a:spcPts val="1450"/>
              </a:lnSpc>
              <a:buNone/>
            </a:pPr>
            <a:r>
              <a:rPr lang="en-US" sz="1050" b="1" dirty="0">
                <a:solidFill>
                  <a:srgbClr val="1E2761"/>
                </a:solidFill>
                <a:latin typeface="Calibri" pitchFamily="34" charset="0"/>
                <a:ea typeface="Calibri" pitchFamily="34" charset="-122"/>
                <a:cs typeface="Calibri" pitchFamily="34" charset="-120"/>
              </a:rPr>
              <a:t>GEO-PRIVACY  </a:t>
            </a:r>
            <a:pPr indent="0" marL="0">
              <a:lnSpc>
                <a:spcPts val="1450"/>
              </a:lnSpc>
              <a:spcAft>
                <a:spcPts val="700"/>
              </a:spcAft>
              <a:buNone/>
            </a:pPr>
            <a:r>
              <a:rPr lang="en-US" sz="1050" dirty="0">
                <a:solidFill>
                  <a:srgbClr val="2B2B2B"/>
                </a:solidFill>
                <a:latin typeface="Calibri" pitchFamily="34" charset="0"/>
                <a:ea typeface="Calibri" pitchFamily="34" charset="-122"/>
                <a:cs typeface="Calibri" pitchFamily="34" charset="-120"/>
              </a:rPr>
              <a:t>Public, generalized, restricted — a coarse, human-applied form of the geomasking used for sensitive site locations in archaeology.</a:t>
            </a:r>
            <a:endParaRPr lang="en-US" sz="105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Layer 1 detail, Figure 1  ·  INFERENCE: FAIR makes the record actionable, CARE makes the action permissible — only together do they produce a field a retrieval system can obey</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Layer 1 · the five governance fields</a:t>
            </a:r>
            <a:endParaRPr lang="en-US" sz="2700" dirty="0"/>
          </a:p>
        </p:txBody>
      </p:sp>
      <p:sp>
        <p:nvSpPr>
          <p:cNvPr id="4" name="Text 2"/>
          <p:cNvSpPr txBox="1"/>
          <p:nvPr/>
        </p:nvSpPr>
        <p:spPr>
          <a:xfrm>
            <a:off x="548640" y="1389888"/>
            <a:ext cx="11064240" cy="32004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Each record is annotated with five governance fields — ensuring that all data are machine-actionable, rights-aware, and traceable within a provenance framework.</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286000"/>
                <a:gridCol w="4846320"/>
                <a:gridCol w="393192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Values in this study</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The machine question it answers</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FPIC status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assumed (all 35 records, documented rationale)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May I use this at all?</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Licensing</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classified per record; 100% compliance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On what terms may I use it?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Geo-privacy tier</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public · generalized · restricted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At what spatial precision may I expose it?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Sensitivity level</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rated per record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With how much care must it be handled?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Reviewer role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local knowledge holder, human-in-the-loop</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On whose authority does it stand?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0292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Five fields carry the entire governance claim. Each was chosen to answer a question a downstream system must ask before it retrieves — which is what makes governance executable rather than declarative.</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Fields verbatim: §3.3; values from §5.1. Right-hand column added for this talk</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Layer 2 · Semantic transformation</a:t>
            </a:r>
            <a:endParaRPr lang="en-US" sz="2700" dirty="0"/>
          </a:p>
        </p:txBody>
      </p:sp>
      <p:sp>
        <p:nvSpPr>
          <p:cNvPr id="4" name="Text 2"/>
          <p:cNvSpPr txBox="1"/>
          <p:nvPr/>
        </p:nvSpPr>
        <p:spPr>
          <a:xfrm>
            <a:off x="548640" y="1627632"/>
            <a:ext cx="11064240" cy="2286000"/>
          </a:xfrm>
          <a:prstGeom prst="rect">
            <a:avLst/>
          </a:prstGeom>
          <a:noFill/>
          <a:ln/>
        </p:spPr>
        <p:txBody>
          <a:bodyPr wrap="square" lIns="0" tIns="0" rIns="0" bIns="0" rtlCol="0" anchor="t"/>
          <a:lstStyle/>
          <a:p>
            <a:pPr indent="0" marL="0">
              <a:lnSpc>
                <a:spcPts val="2500"/>
              </a:lnSpc>
              <a:spcAft>
                <a:spcPts val="900"/>
              </a:spcAft>
              <a:buNone/>
            </a:pPr>
            <a:r>
              <a:rPr lang="en-US" sz="1500" dirty="0">
                <a:solidFill>
                  <a:srgbClr val="2B2B2B"/>
                </a:solidFill>
                <a:latin typeface="Calibri" pitchFamily="34" charset="0"/>
                <a:ea typeface="Calibri" pitchFamily="34" charset="-122"/>
                <a:cs typeface="Calibri" pitchFamily="34" charset="-120"/>
              </a:rPr>
              <a:t>Layer 2 uses a minimal CIDOC-CRM subset — E39 Actor, E53 Place, E5 Event, E22 Object — deliberately restricted to lower adoption barriers (Doerr, 2003).</a:t>
            </a:r>
            <a:endParaRPr lang="en-US" sz="1500" dirty="0"/>
          </a:p>
          <a:p>
            <a:pPr indent="0" marL="0">
              <a:lnSpc>
                <a:spcPts val="2500"/>
              </a:lnSpc>
              <a:spcAft>
                <a:spcPts val="900"/>
              </a:spcAft>
              <a:buNone/>
            </a:pPr>
            <a:r>
              <a:rPr lang="en-US" sz="1500" dirty="0">
                <a:solidFill>
                  <a:srgbClr val="2B2B2B"/>
                </a:solidFill>
                <a:latin typeface="Calibri" pitchFamily="34" charset="0"/>
                <a:ea typeface="Calibri" pitchFamily="34" charset="-122"/>
                <a:cs typeface="Calibri" pitchFamily="34" charset="-120"/>
              </a:rPr>
              <a:t>The raw-first approach preserves narratives before imposing structure.</a:t>
            </a:r>
            <a:endParaRPr lang="en-US" sz="15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Four classes is a profile, not an approximation. The trade is explicit — expressiveness surrendered for a threshold a thirty-volunteer association can cross — and it is the route CIDOC itself recommends for small institutions.</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§4 System Architecture</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PROV-O as the load-bearing seam</a:t>
            </a:r>
            <a:endParaRPr lang="en-US" sz="2700" dirty="0"/>
          </a:p>
        </p:txBody>
      </p:sp>
      <p:sp>
        <p:nvSpPr>
          <p:cNvPr id="4" name="Text 2"/>
          <p:cNvSpPr txBox="1"/>
          <p:nvPr/>
        </p:nvSpPr>
        <p:spPr>
          <a:xfrm>
            <a:off x="548640" y="1389888"/>
            <a:ext cx="11064240" cy="36576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PROV-O (W3C, 2013) maintains traceability via wasAttributedTo, wasGeneratedBy, wasDerivedFrom. Each stage preserves backward traceability via wasDerivedFrom chains.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743200"/>
                <a:gridCol w="2377440"/>
                <a:gridCol w="594360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PROV-O property</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PROV-O core class</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it answers in this system</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wasAttributedTo</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Agent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Who holds authority over this record — the reviewer, the community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wasGeneratedBy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Activity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Which pipeline stage produced it — structuring, governance embedding, mapping</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wasDerivedFrom</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Entity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Which source record it came from — back to the original narrative excerpt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493776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Three properties turn a pile of annotated records into a directed graph with an origin. Auditability is a graph property, not a field — which is why removing PROV-O would not degrade the system gradually, it would sever it.</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Properties verbatim: §4. Class mapping: W3C PROV-O (Entity · Activity · Agent)</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Layer 3 · AI knowledge access</a:t>
            </a:r>
            <a:endParaRPr lang="en-US" sz="2700" dirty="0"/>
          </a:p>
        </p:txBody>
      </p:sp>
      <p:pic>
        <p:nvPicPr>
          <p:cNvPr id="4" name="Image 0" descr="/home/claude/fig3.png">    </p:cNvPr>
          <p:cNvPicPr>
            <a:picLocks noChangeAspect="1"/>
          </p:cNvPicPr>
          <p:nvPr/>
        </p:nvPicPr>
        <p:blipFill>
          <a:blip r:embed="rId1"/>
          <a:stretch>
            <a:fillRect/>
          </a:stretch>
        </p:blipFill>
        <p:spPr>
          <a:xfrm>
            <a:off x="502920" y="1783080"/>
            <a:ext cx="7223760" cy="3035808"/>
          </a:xfrm>
          <a:prstGeom prst="rect">
            <a:avLst/>
          </a:prstGeom>
        </p:spPr>
      </p:pic>
      <p:sp>
        <p:nvSpPr>
          <p:cNvPr id="5" name="Text 2"/>
          <p:cNvSpPr txBox="1"/>
          <p:nvPr/>
        </p:nvSpPr>
        <p:spPr>
          <a:xfrm>
            <a:off x="7635240" y="1371600"/>
            <a:ext cx="4023360" cy="1234440"/>
          </a:xfrm>
          <a:prstGeom prst="rect">
            <a:avLst/>
          </a:prstGeom>
          <a:noFill/>
          <a:ln/>
        </p:spPr>
        <p:txBody>
          <a:bodyPr wrap="square" lIns="0" tIns="0" rIns="0" bIns="0" rtlCol="0" anchor="ctr"/>
          <a:lstStyle/>
          <a:p>
            <a:pPr indent="0" marL="0">
              <a:lnSpc>
                <a:spcPts val="1500"/>
              </a:lnSpc>
              <a:buNone/>
            </a:pPr>
            <a:r>
              <a:rPr lang="en-US" sz="1000" i="1" dirty="0">
                <a:solidFill>
                  <a:srgbClr val="7A7A7A"/>
                </a:solidFill>
                <a:latin typeface="Calibri" pitchFamily="34" charset="0"/>
                <a:ea typeface="Calibri" pitchFamily="34" charset="-122"/>
                <a:cs typeface="Calibri" pitchFamily="34" charset="-120"/>
              </a:rPr>
              <a:t>QA module: user query → vector retrieval from governed records → RAG generation with mandatory source citation. Guided narrative: stepwise interpretation segments linked to source records. Dashed lines = provenance chains.</a:t>
            </a:r>
            <a:endParaRPr lang="en-US" sz="1000" dirty="0"/>
          </a:p>
        </p:txBody>
      </p:sp>
      <p:sp>
        <p:nvSpPr>
          <p:cNvPr id="6" name="Text 3"/>
          <p:cNvSpPr txBox="1"/>
          <p:nvPr/>
        </p:nvSpPr>
        <p:spPr>
          <a:xfrm>
            <a:off x="7635240" y="2715768"/>
            <a:ext cx="4023360" cy="3931920"/>
          </a:xfrm>
          <a:prstGeom prst="rect">
            <a:avLst/>
          </a:prstGeom>
          <a:noFill/>
          <a:ln/>
        </p:spPr>
        <p:txBody>
          <a:bodyPr wrap="square" lIns="0" tIns="0" rIns="0" bIns="0" rtlCol="0" anchor="t"/>
          <a:lstStyle/>
          <a:p>
            <a:pPr indent="0" marL="0">
              <a:lnSpc>
                <a:spcPts val="1500"/>
              </a:lnSpc>
              <a:buNone/>
            </a:pPr>
            <a:r>
              <a:rPr lang="en-US" sz="1050" b="1" dirty="0">
                <a:solidFill>
                  <a:srgbClr val="1E2761"/>
                </a:solidFill>
                <a:latin typeface="Calibri" pitchFamily="34" charset="0"/>
                <a:ea typeface="Calibri" pitchFamily="34" charset="-122"/>
                <a:cs typeface="Calibri" pitchFamily="34" charset="-120"/>
              </a:rPr>
              <a:t>1  </a:t>
            </a:r>
            <a:pPr indent="0" marL="0">
              <a:lnSpc>
                <a:spcPts val="1500"/>
              </a:lnSpc>
              <a:spcAft>
                <a:spcPts val="700"/>
              </a:spcAft>
              <a:buNone/>
            </a:pPr>
            <a:r>
              <a:rPr lang="en-US" sz="1050" dirty="0">
                <a:solidFill>
                  <a:srgbClr val="2B2B2B"/>
                </a:solidFill>
                <a:latin typeface="Calibri" pitchFamily="34" charset="0"/>
                <a:ea typeface="Calibri" pitchFamily="34" charset="-122"/>
                <a:cs typeface="Calibri" pitchFamily="34" charset="-120"/>
              </a:rPr>
              <a:t>Both modules read the same governed base. There is no second path by which uncited claims could re-enter.</a:t>
            </a:r>
            <a:endParaRPr lang="en-US" sz="1050" dirty="0"/>
          </a:p>
          <a:p>
            <a:pPr indent="0" marL="0">
              <a:lnSpc>
                <a:spcPts val="1500"/>
              </a:lnSpc>
              <a:buNone/>
            </a:pPr>
            <a:r>
              <a:rPr lang="en-US" sz="1050" b="1" dirty="0">
                <a:solidFill>
                  <a:srgbClr val="1E2761"/>
                </a:solidFill>
                <a:latin typeface="Calibri" pitchFamily="34" charset="0"/>
                <a:ea typeface="Calibri" pitchFamily="34" charset="-122"/>
                <a:cs typeface="Calibri" pitchFamily="34" charset="-120"/>
              </a:rPr>
              <a:t>2  </a:t>
            </a:r>
            <a:pPr indent="0" marL="0">
              <a:lnSpc>
                <a:spcPts val="1500"/>
              </a:lnSpc>
              <a:spcAft>
                <a:spcPts val="700"/>
              </a:spcAft>
              <a:buNone/>
            </a:pPr>
            <a:r>
              <a:rPr lang="en-US" sz="1050" dirty="0">
                <a:solidFill>
                  <a:srgbClr val="2B2B2B"/>
                </a:solidFill>
                <a:latin typeface="Calibri" pitchFamily="34" charset="0"/>
                <a:ea typeface="Calibri" pitchFamily="34" charset="-122"/>
                <a:cs typeface="Calibri" pitchFamily="34" charset="-120"/>
              </a:rPr>
              <a:t>Citation is a property of the retrieval scope, not of the prompt — so it cannot degrade under paraphrase.</a:t>
            </a:r>
            <a:endParaRPr lang="en-US" sz="1050" dirty="0"/>
          </a:p>
          <a:p>
            <a:pPr indent="0" marL="0">
              <a:lnSpc>
                <a:spcPts val="1500"/>
              </a:lnSpc>
              <a:buNone/>
            </a:pPr>
            <a:r>
              <a:rPr lang="en-US" sz="1050" b="1" dirty="0">
                <a:solidFill>
                  <a:srgbClr val="1E2761"/>
                </a:solidFill>
                <a:latin typeface="Calibri" pitchFamily="34" charset="0"/>
                <a:ea typeface="Calibri" pitchFamily="34" charset="-122"/>
                <a:cs typeface="Calibri" pitchFamily="34" charset="-120"/>
              </a:rPr>
              <a:t>3  </a:t>
            </a:r>
            <a:pPr indent="0" marL="0">
              <a:lnSpc>
                <a:spcPts val="1500"/>
              </a:lnSpc>
              <a:spcAft>
                <a:spcPts val="700"/>
              </a:spcAft>
              <a:buNone/>
            </a:pPr>
            <a:r>
              <a:rPr lang="en-US" sz="1050" dirty="0">
                <a:solidFill>
                  <a:srgbClr val="2B2B2B"/>
                </a:solidFill>
                <a:latin typeface="Calibri" pitchFamily="34" charset="0"/>
                <a:ea typeface="Calibri" pitchFamily="34" charset="-122"/>
                <a:cs typeface="Calibri" pitchFamily="34" charset="-120"/>
              </a:rPr>
              <a:t>The knowledge base row shows the record counts: NE 6, AC 6, PL 8, EV 8, OB 7, GOV 4.</a:t>
            </a:r>
            <a:endParaRPr lang="en-US" sz="1050" dirty="0"/>
          </a:p>
          <a:p>
            <a:pPr indent="0" marL="0">
              <a:lnSpc>
                <a:spcPts val="1500"/>
              </a:lnSpc>
              <a:buNone/>
            </a:pPr>
            <a:r>
              <a:rPr lang="en-US" sz="1050" b="1" dirty="0">
                <a:solidFill>
                  <a:srgbClr val="1E2761"/>
                </a:solidFill>
                <a:latin typeface="Calibri" pitchFamily="34" charset="0"/>
                <a:ea typeface="Calibri" pitchFamily="34" charset="-122"/>
                <a:cs typeface="Calibri" pitchFamily="34" charset="-120"/>
              </a:rPr>
              <a:t>4  </a:t>
            </a:r>
            <a:pPr indent="0" marL="0">
              <a:lnSpc>
                <a:spcPts val="1500"/>
              </a:lnSpc>
              <a:spcAft>
                <a:spcPts val="700"/>
              </a:spcAft>
              <a:buNone/>
            </a:pPr>
            <a:r>
              <a:rPr lang="en-US" sz="1050" dirty="0">
                <a:solidFill>
                  <a:srgbClr val="2B2B2B"/>
                </a:solidFill>
                <a:latin typeface="Calibri" pitchFamily="34" charset="0"/>
                <a:ea typeface="Calibri" pitchFamily="34" charset="-122"/>
                <a:cs typeface="Calibri" pitchFamily="34" charset="-120"/>
              </a:rPr>
              <a:t>The guided narrative is the riskier module: it interprets. Binding each segment to a record ID is what keeps interpretation accountable.</a:t>
            </a:r>
            <a:endParaRPr lang="en-US" sz="1050" dirty="0"/>
          </a:p>
        </p:txBody>
      </p:sp>
      <p:sp>
        <p:nvSpPr>
          <p:cNvPr id="7" name="Text 4"/>
          <p:cNvSpPr txBox="1"/>
          <p:nvPr/>
        </p:nvSpPr>
        <p:spPr>
          <a:xfrm>
            <a:off x="548640" y="5532120"/>
            <a:ext cx="11064240" cy="73152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dual-module design is where the interactivity-versus-control tension is resolved: interaction is unconstrained, but the evidence base is not.</a:t>
            </a:r>
            <a:endParaRPr lang="en-US" sz="1000" dirty="0"/>
          </a:p>
        </p:txBody>
      </p:sp>
      <p:sp>
        <p:nvSpPr>
          <p:cNvPr id="8" name="Text 5"/>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Figure 3, verbatim caption (condensed). Annotations added for this talk</a:t>
            </a:r>
            <a:endParaRPr lang="en-US" sz="900" dirty="0"/>
          </a:p>
        </p:txBody>
      </p:sp>
      <p:sp>
        <p:nvSpPr>
          <p:cNvPr id="9" name="Text 6"/>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nine-step pipeline — and what is actually finished</a:t>
            </a:r>
            <a:endParaRPr lang="en-US" sz="2700" dirty="0"/>
          </a:p>
        </p:txBody>
      </p:sp>
      <p:pic>
        <p:nvPicPr>
          <p:cNvPr id="4" name="Image 0" descr="/home/claude/fig2.png">    </p:cNvPr>
          <p:cNvPicPr>
            <a:picLocks noChangeAspect="1"/>
          </p:cNvPicPr>
          <p:nvPr/>
        </p:nvPicPr>
        <p:blipFill>
          <a:blip r:embed="rId1"/>
          <a:stretch>
            <a:fillRect/>
          </a:stretch>
        </p:blipFill>
        <p:spPr>
          <a:xfrm>
            <a:off x="502920" y="1371600"/>
            <a:ext cx="5577840" cy="4279392"/>
          </a:xfrm>
          <a:prstGeom prst="rect">
            <a:avLst/>
          </a:prstGeom>
        </p:spPr>
      </p:pic>
      <p:sp>
        <p:nvSpPr>
          <p:cNvPr id="5" name="Text 2"/>
          <p:cNvSpPr txBox="1"/>
          <p:nvPr/>
        </p:nvSpPr>
        <p:spPr>
          <a:xfrm>
            <a:off x="6400800" y="1371600"/>
            <a:ext cx="5257800" cy="3931920"/>
          </a:xfrm>
          <a:prstGeom prst="rect">
            <a:avLst/>
          </a:prstGeom>
          <a:noFill/>
          <a:ln/>
        </p:spPr>
        <p:txBody>
          <a:bodyPr wrap="square" lIns="0" tIns="0" rIns="0" bIns="0" rtlCol="0" anchor="t"/>
          <a:lstStyle/>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DONE  </a:t>
            </a:r>
            <a:pPr indent="0" marL="0">
              <a:lnSpc>
                <a:spcPts val="1600"/>
              </a:lnSpc>
              <a:spcAft>
                <a:spcPts val="700"/>
              </a:spcAft>
              <a:buNone/>
            </a:pPr>
            <a:r>
              <a:rPr lang="en-US" sz="1150" dirty="0">
                <a:solidFill>
                  <a:srgbClr val="2B2B2B"/>
                </a:solidFill>
                <a:latin typeface="Calibri" pitchFamily="34" charset="0"/>
                <a:ea typeface="Calibri" pitchFamily="34" charset="-122"/>
                <a:cs typeface="Calibri" pitchFamily="34" charset="-120"/>
              </a:rPr>
              <a:t>Case selection, structuring, governance embedding, semantic transformation, QA dataset construction, RAG evaluation.</a:t>
            </a:r>
            <a:endParaRPr lang="en-US" sz="1150" dirty="0"/>
          </a:p>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PENDING  </a:t>
            </a:r>
            <a:pPr indent="0" marL="0">
              <a:lnSpc>
                <a:spcPts val="1600"/>
              </a:lnSpc>
              <a:spcAft>
                <a:spcPts val="700"/>
              </a:spcAft>
              <a:buNone/>
            </a:pPr>
            <a:r>
              <a:rPr lang="en-US" sz="1150" dirty="0">
                <a:solidFill>
                  <a:srgbClr val="2B2B2B"/>
                </a:solidFill>
                <a:latin typeface="Calibri" pitchFamily="34" charset="0"/>
                <a:ea typeface="Calibri" pitchFamily="34" charset="-122"/>
                <a:cs typeface="Calibri" pitchFamily="34" charset="-120"/>
              </a:rPr>
              <a:t>User study — designed, not executed. Interaction logging — schema defined, deployment pending. Dataset versioning — packaged, DOI not yet assigned.</a:t>
            </a:r>
            <a:endParaRPr lang="en-US" sz="1150" dirty="0"/>
          </a:p>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WHY IT MATTERS  </a:t>
            </a:r>
            <a:pPr indent="0" marL="0">
              <a:lnSpc>
                <a:spcPts val="1600"/>
              </a:lnSpc>
              <a:spcAft>
                <a:spcPts val="700"/>
              </a:spcAft>
              <a:buNone/>
            </a:pPr>
            <a:r>
              <a:rPr lang="en-US" sz="1150" dirty="0">
                <a:solidFill>
                  <a:srgbClr val="2B2B2B"/>
                </a:solidFill>
                <a:latin typeface="Calibri" pitchFamily="34" charset="0"/>
                <a:ea typeface="Calibri" pitchFamily="34" charset="-122"/>
                <a:cs typeface="Calibri" pitchFamily="34" charset="-120"/>
              </a:rPr>
              <a:t>The three unfinished steps are not scattered. All three sit in the evaluation activity of the DSR cycle — exactly the activity TRL-3 leaves open.</a:t>
            </a:r>
            <a:endParaRPr lang="en-US" sz="1150" dirty="0"/>
          </a:p>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SO  </a:t>
            </a:r>
            <a:pPr indent="0" marL="0">
              <a:lnSpc>
                <a:spcPts val="1600"/>
              </a:lnSpc>
              <a:spcAft>
                <a:spcPts val="700"/>
              </a:spcAft>
              <a:buNone/>
            </a:pPr>
            <a:r>
              <a:rPr lang="en-US" sz="1150" dirty="0">
                <a:solidFill>
                  <a:srgbClr val="2B2B2B"/>
                </a:solidFill>
                <a:latin typeface="Calibri" pitchFamily="34" charset="0"/>
                <a:ea typeface="Calibri" pitchFamily="34" charset="-122"/>
                <a:cs typeface="Calibri" pitchFamily="34" charset="-120"/>
              </a:rPr>
              <a:t>What looks like an incomplete study is a study at its declared stage. Declaring the stage first (slide 21) is what earns that reading.</a:t>
            </a:r>
            <a:endParaRPr lang="en-US" sz="1150" dirty="0"/>
          </a:p>
        </p:txBody>
      </p:sp>
      <p:sp>
        <p:nvSpPr>
          <p:cNvPr id="6" name="Text 3"/>
          <p:cNvSpPr txBox="1"/>
          <p:nvPr/>
        </p:nvSpPr>
        <p:spPr>
          <a:xfrm>
            <a:off x="548640" y="5623560"/>
            <a:ext cx="11064240" cy="64008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Every pending item is downstream of the artifact, never inside it. The pipeline is complete; the validation of its effects on people is not.</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Figure 2, verbatim stage table; completion status from §3.3</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 · CASE &amp; INSTRUMENT</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From site to source text</a:t>
            </a:r>
            <a:endParaRPr lang="en-US" sz="2700" dirty="0"/>
          </a:p>
        </p:txBody>
      </p:sp>
      <p:sp>
        <p:nvSpPr>
          <p:cNvPr id="4" name="Text 2"/>
          <p:cNvSpPr txBox="1"/>
          <p:nvPr/>
        </p:nvSpPr>
        <p:spPr>
          <a:xfrm>
            <a:off x="548640" y="1627632"/>
            <a:ext cx="11064240" cy="2103120"/>
          </a:xfrm>
          <a:prstGeom prst="rect">
            <a:avLst/>
          </a:prstGeom>
          <a:noFill/>
          <a:ln/>
        </p:spPr>
        <p:txBody>
          <a:bodyPr wrap="square" lIns="0" tIns="0" rIns="0" bIns="0" rtlCol="0" anchor="t"/>
          <a:lstStyle/>
          <a:p>
            <a:pPr indent="0" marL="0">
              <a:lnSpc>
                <a:spcPts val="2500"/>
              </a:lnSpc>
              <a:spcAft>
                <a:spcPts val="900"/>
              </a:spcAft>
              <a:buNone/>
            </a:pPr>
            <a:r>
              <a:rPr lang="en-US" sz="1500" dirty="0">
                <a:solidFill>
                  <a:srgbClr val="2B2B2B"/>
                </a:solidFill>
                <a:latin typeface="Calibri" pitchFamily="34" charset="0"/>
                <a:ea typeface="Calibri" pitchFamily="34" charset="-122"/>
                <a:cs typeface="Calibri" pitchFamily="34" charset="-120"/>
              </a:rPr>
              <a:t>A single representative narrative was selected: a published cultural reportage on Xinwu stone weir heritage by Chi Wen-Fen (~4,000 Chinese characters). The case-based strategy prioritizes governance completeness over scale.</a:t>
            </a:r>
            <a:endParaRPr lang="en-US" sz="15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unit of analysis is the governance pipeline, not the heritage site. A single case is therefore a design choice about what is demonstrated — completeness of a process — rather than a sampling compromise.</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§3.2 Case-Based Mini Dataset</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 · CASE &amp; INSTRUMENT</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Dataset composition</a:t>
            </a:r>
            <a:endParaRPr lang="en-US" sz="2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926080"/>
                <a:gridCol w="1188720"/>
                <a:gridCol w="2011680"/>
                <a:gridCol w="493776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Record type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Count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Story transcript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Core narrative source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Narrative excerpts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Thematic segmentation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Actor records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Semantic</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People and roles (E39)</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Place records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Semantic</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Locations and geo-privacy (E53)</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Event records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Semantic</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Chronological events (E5)</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Object records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Semantic</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Structures and artifacts (E22/E18)</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Governance records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Governance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FPIC, licensing, review</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QA gold items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AI</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Offline evaluation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Total governed records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All</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Full pipeline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486400"/>
            <a:ext cx="11064240" cy="77724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These counts are a census of one narrative, not a sample from a population. That is why the percentages in Act VI are completeness measures rather than estimates — and why no confidence interval belongs on them.</a:t>
            </a:r>
            <a:endParaRPr lang="en-US" sz="10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Table 1, Case-based mini dataset composition</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 · CASE &amp; INSTRUMENT</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evaluation instrument</a:t>
            </a:r>
            <a:endParaRPr lang="en-US" sz="2700" dirty="0"/>
          </a:p>
        </p:txBody>
      </p:sp>
      <p:sp>
        <p:nvSpPr>
          <p:cNvPr id="4" name="Text 2"/>
          <p:cNvSpPr txBox="1"/>
          <p:nvPr/>
        </p:nvSpPr>
        <p:spPr>
          <a:xfrm>
            <a:off x="548640" y="1600200"/>
            <a:ext cx="11064240" cy="2560320"/>
          </a:xfrm>
          <a:prstGeom prst="rect">
            <a:avLst/>
          </a:prstGeom>
          <a:noFill/>
          <a:ln/>
        </p:spPr>
        <p:txBody>
          <a:bodyPr wrap="square" lIns="0" tIns="0" rIns="0" bIns="0" rtlCol="0" anchor="t"/>
          <a:lstStyle/>
          <a:p>
            <a:pPr indent="0" marL="0">
              <a:lnSpc>
                <a:spcPts val="2300"/>
              </a:lnSpc>
              <a:spcAft>
                <a:spcPts val="900"/>
              </a:spcAft>
              <a:buNone/>
            </a:pPr>
            <a:r>
              <a:rPr lang="en-US" sz="1450" dirty="0">
                <a:solidFill>
                  <a:srgbClr val="2B2B2B"/>
                </a:solidFill>
                <a:latin typeface="Calibri" pitchFamily="34" charset="0"/>
                <a:ea typeface="Calibri" pitchFamily="34" charset="-122"/>
                <a:cs typeface="Calibri" pitchFamily="34" charset="-120"/>
              </a:rPr>
              <a:t>Offline QA evaluation compared governance-aware RAG against unconstrained generation using a 24-item QA gold subset stratified across four types: fact (6), relation (6), vocabulary (6), and heritage interpretation (6).</a:t>
            </a:r>
            <a:endParaRPr lang="en-US" sz="1450" dirty="0"/>
          </a:p>
          <a:p>
            <a:pPr indent="0" marL="0">
              <a:lnSpc>
                <a:spcPts val="2300"/>
              </a:lnSpc>
              <a:spcAft>
                <a:spcPts val="900"/>
              </a:spcAft>
              <a:buNone/>
            </a:pPr>
            <a:r>
              <a:rPr lang="en-US" sz="1450" dirty="0">
                <a:solidFill>
                  <a:srgbClr val="2B2B2B"/>
                </a:solidFill>
                <a:latin typeface="Calibri" pitchFamily="34" charset="0"/>
                <a:ea typeface="Calibri" pitchFamily="34" charset="-122"/>
                <a:cs typeface="Calibri" pitchFamily="34" charset="-120"/>
              </a:rPr>
              <a:t>Each item was scored by a single rater on four ordinal dimensions (0–2): source-groundedness, hallucination, citation accuracy, and governance relevance.</a:t>
            </a:r>
            <a:endParaRPr lang="en-US" sz="14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Stratifying 6/6/6/6 buys diagnosis, not statistical power. It can show where each condition fails; it cannot show by how much. Declaring that here is what makes the per-type patterns at slide 39 legitimate to report.</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§5.3 AI Reliability</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RQ1 · Governance feasibility</a:t>
            </a:r>
            <a:endParaRPr lang="en-US" sz="2700" dirty="0"/>
          </a:p>
        </p:txBody>
      </p:sp>
      <p:sp>
        <p:nvSpPr>
          <p:cNvPr id="4" name="Text 2"/>
          <p:cNvSpPr txBox="1"/>
          <p:nvPr/>
        </p:nvSpPr>
        <p:spPr>
          <a:xfrm>
            <a:off x="548640" y="1600200"/>
            <a:ext cx="11064240" cy="2560320"/>
          </a:xfrm>
          <a:prstGeom prst="rect">
            <a:avLst/>
          </a:prstGeom>
          <a:noFill/>
          <a:ln/>
        </p:spPr>
        <p:txBody>
          <a:bodyPr wrap="square" lIns="0" tIns="0" rIns="0" bIns="0" rtlCol="0" anchor="t"/>
          <a:lstStyle/>
          <a:p>
            <a:pPr indent="0" marL="0">
              <a:lnSpc>
                <a:spcPts val="2300"/>
              </a:lnSpc>
              <a:spcAft>
                <a:spcPts val="900"/>
              </a:spcAft>
              <a:buNone/>
            </a:pPr>
            <a:r>
              <a:rPr lang="en-US" sz="1450" dirty="0">
                <a:solidFill>
                  <a:srgbClr val="2B2B2B"/>
                </a:solidFill>
                <a:latin typeface="Calibri" pitchFamily="34" charset="0"/>
                <a:ea typeface="Calibri" pitchFamily="34" charset="-122"/>
                <a:cs typeface="Calibri" pitchFamily="34" charset="-120"/>
              </a:rPr>
              <a:t>All 35 records achieved 100 per cent provenance coverage (complete PROV-O), 100 per cent FPIC documentation, 100 per cent licensing compliance, and zero geo-privacy incidents.</a:t>
            </a:r>
            <a:endParaRPr lang="en-US" sz="1450" dirty="0"/>
          </a:p>
          <a:p>
            <a:pPr indent="0" marL="0">
              <a:lnSpc>
                <a:spcPts val="2300"/>
              </a:lnSpc>
              <a:spcAft>
                <a:spcPts val="900"/>
              </a:spcAft>
              <a:buNone/>
            </a:pPr>
            <a:r>
              <a:rPr lang="en-US" sz="1450" dirty="0">
                <a:solidFill>
                  <a:srgbClr val="2B2B2B"/>
                </a:solidFill>
                <a:latin typeface="Calibri" pitchFamily="34" charset="0"/>
                <a:ea typeface="Calibri" pitchFamily="34" charset="-122"/>
                <a:cs typeface="Calibri" pitchFamily="34" charset="-120"/>
              </a:rPr>
              <a:t>Governance annotation required approximately 8–12 minutes per record on average, including FPIC status assignment, licensing classification, geo-privacy tiering, and sensitivity rating.</a:t>
            </a:r>
            <a:endParaRPr lang="en-US" sz="14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100 per cent means every record carries every field — not that every judgement was correct. The 8–12 minutes is the more informative number, because it is the only one that scales: a thousand records is roughly two hundred volunteer hours.</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§5.1 Governance Feasibility</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RQ1 · The hard case</a:t>
            </a:r>
            <a:endParaRPr lang="en-US" sz="2700" dirty="0"/>
          </a:p>
        </p:txBody>
      </p:sp>
      <p:sp>
        <p:nvSpPr>
          <p:cNvPr id="4" name="Text 2"/>
          <p:cNvSpPr txBox="1"/>
          <p:nvPr/>
        </p:nvSpPr>
        <p:spPr>
          <a:xfrm>
            <a:off x="548640" y="1371600"/>
            <a:ext cx="11064240" cy="548640"/>
          </a:xfrm>
          <a:prstGeom prst="rect">
            <a:avLst/>
          </a:prstGeom>
          <a:noFill/>
          <a:ln/>
        </p:spPr>
        <p:txBody>
          <a:bodyPr wrap="square" lIns="0" tIns="0" rIns="0" bIns="0"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The primary governance challenge was not technical but interpretive: determining appropriate geo-privacy tiers for place records that are already publicly documented in the source narrative yet may carry sensitivity implications if linked to precise coordinates in a digital system.</a:t>
            </a:r>
            <a:endParaRPr lang="en-US" sz="1250" dirty="0"/>
          </a:p>
        </p:txBody>
      </p:sp>
      <p:pic>
        <p:nvPicPr>
          <p:cNvPr id="5" name="Image 0" descr="/home/claude/g_geoprivacy.png">    </p:cNvPr>
          <p:cNvPicPr>
            <a:picLocks noChangeAspect="1"/>
          </p:cNvPicPr>
          <p:nvPr/>
        </p:nvPicPr>
        <p:blipFill>
          <a:blip r:embed="rId1"/>
          <a:stretch>
            <a:fillRect/>
          </a:stretch>
        </p:blipFill>
        <p:spPr>
          <a:xfrm>
            <a:off x="1417320" y="2057400"/>
            <a:ext cx="9326880" cy="3456432"/>
          </a:xfrm>
          <a:prstGeom prst="rect">
            <a:avLst/>
          </a:prstGeom>
        </p:spPr>
      </p:pic>
      <p:sp>
        <p:nvSpPr>
          <p:cNvPr id="6" name="Text 3"/>
          <p:cNvSpPr txBox="1"/>
          <p:nvPr/>
        </p:nvSpPr>
        <p:spPr>
          <a:xfrm>
            <a:off x="548640" y="5669280"/>
            <a:ext cx="11064240" cy="54864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Aggregation changes sensitivity: a fact that is public in prose becomes a target when bound to coordinates in a queryable system. The tier is a property of the representation, not of the fact.</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§5.1. Tier assignment and examples from the same section</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RQ2 · Semantic transformation</a:t>
            </a:r>
            <a:endParaRPr lang="en-US" sz="2700" dirty="0"/>
          </a:p>
        </p:txBody>
      </p:sp>
      <p:sp>
        <p:nvSpPr>
          <p:cNvPr id="4" name="Text 2"/>
          <p:cNvSpPr txBox="1"/>
          <p:nvPr/>
        </p:nvSpPr>
        <p:spPr>
          <a:xfrm>
            <a:off x="548640" y="1600200"/>
            <a:ext cx="11064240" cy="2560320"/>
          </a:xfrm>
          <a:prstGeom prst="rect">
            <a:avLst/>
          </a:prstGeom>
          <a:noFill/>
          <a:ln/>
        </p:spPr>
        <p:txBody>
          <a:bodyPr wrap="square" lIns="0" tIns="0" rIns="0" bIns="0" rtlCol="0" anchor="t"/>
          <a:lstStyle/>
          <a:p>
            <a:pPr indent="0" marL="0">
              <a:lnSpc>
                <a:spcPts val="2300"/>
              </a:lnSpc>
              <a:spcAft>
                <a:spcPts val="900"/>
              </a:spcAft>
              <a:buNone/>
            </a:pPr>
            <a:r>
              <a:rPr lang="en-US" sz="1450" dirty="0">
                <a:solidFill>
                  <a:srgbClr val="2B2B2B"/>
                </a:solidFill>
                <a:latin typeface="Calibri" pitchFamily="34" charset="0"/>
                <a:ea typeface="Calibri" pitchFamily="34" charset="-122"/>
                <a:cs typeface="Calibri" pitchFamily="34" charset="-120"/>
              </a:rPr>
              <a:t>All 35 records mapped to CIDOC-CRM: 6 actors → E39, 8 places → E53, 8 events → E5, 7 objects → E22/E18, 6 excerpts → E73. PROV-O maintained at 100 per cent.</a:t>
            </a:r>
            <a:endParaRPr lang="en-US" sz="1450" dirty="0"/>
          </a:p>
          <a:p>
            <a:pPr indent="0" marL="0">
              <a:lnSpc>
                <a:spcPts val="2300"/>
              </a:lnSpc>
              <a:spcAft>
                <a:spcPts val="900"/>
              </a:spcAft>
              <a:buNone/>
            </a:pPr>
            <a:r>
              <a:rPr lang="en-US" sz="1450" dirty="0">
                <a:solidFill>
                  <a:srgbClr val="2B2B2B"/>
                </a:solidFill>
                <a:latin typeface="Calibri" pitchFamily="34" charset="0"/>
                <a:ea typeface="Calibri" pitchFamily="34" charset="-122"/>
                <a:cs typeface="Calibri" pitchFamily="34" charset="-120"/>
              </a:rPr>
              <a:t>Manual review confirmed semantic preservation: Hakka shihwen (石塭) vs Mandarin shihhu (石滬) retained across records; xianhaifan (鹹醢飯) cultural transformation captured in cross-referenced narrative and object records.</a:t>
            </a:r>
            <a:endParaRPr lang="en-US" sz="14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Preservation is demonstrated by a retained contrast, not by the absence of complaint. The test is whether the system can still tell 石塭 from 石滬 after structuring — a distinction normalisation would have quietly erased.</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§5.2 Semantic Transformation</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RQ2 · Where the ontology strained</a:t>
            </a:r>
            <a:endParaRPr lang="en-US" sz="2700" dirty="0"/>
          </a:p>
        </p:txBody>
      </p:sp>
      <p:sp>
        <p:nvSpPr>
          <p:cNvPr id="4" name="Text 2"/>
          <p:cNvSpPr txBox="1"/>
          <p:nvPr/>
        </p:nvSpPr>
        <p:spPr>
          <a:xfrm>
            <a:off x="548640" y="1517904"/>
            <a:ext cx="11064240" cy="3429000"/>
          </a:xfrm>
          <a:prstGeom prst="rect">
            <a:avLst/>
          </a:prstGeom>
          <a:noFill/>
          <a:ln/>
        </p:spPr>
        <p:txBody>
          <a:bodyPr wrap="square" lIns="0" tIns="0" rIns="0" bIns="0" rtlCol="0" anchor="t"/>
          <a:lstStyle/>
          <a:p>
            <a:pPr indent="0" marL="0">
              <a:lnSpc>
                <a:spcPts val="2000"/>
              </a:lnSpc>
              <a:spcAft>
                <a:spcPts val="900"/>
              </a:spcAft>
              <a:buNone/>
            </a:pPr>
            <a:r>
              <a:rPr lang="en-US" sz="1300" dirty="0">
                <a:solidFill>
                  <a:srgbClr val="2B2B2B"/>
                </a:solidFill>
                <a:latin typeface="Calibri" pitchFamily="34" charset="0"/>
                <a:ea typeface="Calibri" pitchFamily="34" charset="-122"/>
                <a:cs typeface="Calibri" pitchFamily="34" charset="-120"/>
              </a:rPr>
              <a:t>OB-04 (鹹醢飯) could be modeled as either E22 Human-Made Object or E29 Design or Procedure; we assigned E22 to maintain consistency with other object records while documenting the procedural dimension in the description field.</a:t>
            </a:r>
            <a:endParaRPr lang="en-US" sz="1300" dirty="0"/>
          </a:p>
          <a:p>
            <a:pPr indent="0" marL="0">
              <a:lnSpc>
                <a:spcPts val="2000"/>
              </a:lnSpc>
              <a:spcAft>
                <a:spcPts val="900"/>
              </a:spcAft>
              <a:buNone/>
            </a:pPr>
            <a:r>
              <a:rPr lang="en-US" sz="1300" dirty="0">
                <a:solidFill>
                  <a:srgbClr val="2B2B2B"/>
                </a:solidFill>
                <a:latin typeface="Calibri" pitchFamily="34" charset="0"/>
                <a:ea typeface="Calibri" pitchFamily="34" charset="-122"/>
                <a:cs typeface="Calibri" pitchFamily="34" charset="-120"/>
              </a:rPr>
              <a:t>NE-05, which uses a botanical entity as an ethnic-identity metaphor, resisted strict ontological separation between E20 Biological Object and E73 Information Object; we retained E73 as the primary class.</a:t>
            </a:r>
            <a:endParaRPr lang="en-US" sz="1300" dirty="0"/>
          </a:p>
          <a:p>
            <a:pPr indent="0" marL="0">
              <a:lnSpc>
                <a:spcPts val="2000"/>
              </a:lnSpc>
              <a:spcAft>
                <a:spcPts val="900"/>
              </a:spcAft>
              <a:buNone/>
            </a:pPr>
            <a:r>
              <a:rPr lang="en-US" sz="1300" dirty="0">
                <a:solidFill>
                  <a:srgbClr val="2B2B2B"/>
                </a:solidFill>
                <a:latin typeface="Calibri" pitchFamily="34" charset="0"/>
                <a:ea typeface="Calibri" pitchFamily="34" charset="-122"/>
                <a:cs typeface="Calibri" pitchFamily="34" charset="-120"/>
              </a:rPr>
              <a:t>The minimal four-class subset necessarily compresses distinctions that a fuller ontological treatment would differentiate — for example, the governance transition from volunteer patrol to formal association is represented as an E5 Event.</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All three ambiguities have one shape: the record is simultaneously a thing and a process. A four-class profile must choose — and documenting the choice in the description field is what keeps the compression reversible rather than lossy.</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§5.2 Semantic Transformation</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RQ3 · The headline result</a:t>
            </a:r>
            <a:endParaRPr lang="en-US" sz="2700" dirty="0"/>
          </a:p>
        </p:txBody>
      </p:sp>
      <p:pic>
        <p:nvPicPr>
          <p:cNvPr id="4" name="Image 0" descr="/home/claude/g_results.png">    </p:cNvPr>
          <p:cNvPicPr>
            <a:picLocks noChangeAspect="1"/>
          </p:cNvPicPr>
          <p:nvPr/>
        </p:nvPicPr>
        <p:blipFill>
          <a:blip r:embed="rId1"/>
          <a:stretch>
            <a:fillRect/>
          </a:stretch>
        </p:blipFill>
        <p:spPr>
          <a:xfrm>
            <a:off x="502920" y="1371600"/>
            <a:ext cx="7589520" cy="3383280"/>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321040" y="1600200"/>
          <a:ext cx="3337560" cy="914400"/>
        </p:xfrm>
        <a:graphic>
          <a:graphicData uri="http://schemas.openxmlformats.org/drawingml/2006/table">
            <a:tbl>
              <a:tblPr/>
              <a:tblGrid>
                <a:gridCol w="1691640"/>
                <a:gridCol w="868680"/>
                <a:gridCol w="777240"/>
              </a:tblGrid>
              <a:tr h="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Also measured</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RAG</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Baseline</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950" dirty="0">
                          <a:solidFill>
                            <a:srgbClr val="2B2B2B"/>
                          </a:solidFill>
                          <a:latin typeface="Calibri" pitchFamily="34" charset="0"/>
                          <a:ea typeface="Calibri" pitchFamily="34" charset="-122"/>
                          <a:cs typeface="Calibri" pitchFamily="34" charset="-120"/>
                        </a:rPr>
                        <a:t>Mean governance relevance (0–2)</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2.00 ± 0.00</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0.46 ± 0.51</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950" dirty="0">
                          <a:solidFill>
                            <a:srgbClr val="2B2B2B"/>
                          </a:solidFill>
                          <a:latin typeface="Calibri" pitchFamily="34" charset="0"/>
                          <a:ea typeface="Calibri" pitchFamily="34" charset="-122"/>
                          <a:cs typeface="Calibri" pitchFamily="34" charset="-120"/>
                        </a:rPr>
                        <a:t>Vocabulary precision (6 items)</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6 / 6</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3 / 6</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2B2B2B"/>
                          </a:solidFill>
                          <a:latin typeface="Calibri" pitchFamily="34" charset="0"/>
                          <a:ea typeface="Calibri" pitchFamily="34" charset="-122"/>
                          <a:cs typeface="Calibri" pitchFamily="34" charset="-120"/>
                        </a:rPr>
                        <a:t>Source-grounded (24 items)</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24 / 24</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7 / 24</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950" dirty="0">
                          <a:solidFill>
                            <a:srgbClr val="2B2B2B"/>
                          </a:solidFill>
                          <a:latin typeface="Calibri" pitchFamily="34" charset="0"/>
                          <a:ea typeface="Calibri" pitchFamily="34" charset="-122"/>
                          <a:cs typeface="Calibri" pitchFamily="34" charset="-120"/>
                        </a:rPr>
                        <a:t>Hallucinated (24 items)</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0 / 24</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15 / 24</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12064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Read the deltas as bounded by the baseline's weakness. A 0 per cent hallucination rate over a 35-record corpus is a statement about the corpus as much as about the method: at this size there is almost nothing for retrieval to get wrong.</a:t>
            </a:r>
            <a:endParaRPr lang="en-US" sz="1000" dirty="0"/>
          </a:p>
        </p:txBody>
      </p:sp>
      <p:sp>
        <p:nvSpPr>
          <p:cNvPr id="7"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Table 2, Offline evaluation (n = 24)</a:t>
            </a:r>
            <a:endParaRPr lang="en-US" sz="900" dirty="0"/>
          </a:p>
        </p:txBody>
      </p:sp>
      <p:sp>
        <p:nvSpPr>
          <p:cNvPr id="8"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RQ3 · What the numbers look like as text</a:t>
            </a:r>
            <a:endParaRPr lang="en-US" sz="2700" dirty="0"/>
          </a:p>
        </p:txBody>
      </p:sp>
      <p:sp>
        <p:nvSpPr>
          <p:cNvPr id="4" name="Text 2"/>
          <p:cNvSpPr txBox="1"/>
          <p:nvPr/>
        </p:nvSpPr>
        <p:spPr>
          <a:xfrm>
            <a:off x="548640" y="1737360"/>
            <a:ext cx="11064240" cy="2286000"/>
          </a:xfrm>
          <a:prstGeom prst="rect">
            <a:avLst/>
          </a:prstGeom>
          <a:noFill/>
          <a:ln/>
        </p:spPr>
        <p:txBody>
          <a:bodyPr wrap="square" lIns="0" tIns="0" rIns="0" bIns="0" rtlCol="0" anchor="t"/>
          <a:lstStyle/>
          <a:p>
            <a:pPr indent="0" marL="0">
              <a:lnSpc>
                <a:spcPts val="2900"/>
              </a:lnSpc>
              <a:spcAft>
                <a:spcPts val="900"/>
              </a:spcAft>
              <a:buNone/>
            </a:pPr>
            <a:r>
              <a:rPr lang="en-US" sz="1600" dirty="0">
                <a:solidFill>
                  <a:srgbClr val="2B2B2B"/>
                </a:solidFill>
                <a:latin typeface="Calibri" pitchFamily="34" charset="0"/>
                <a:ea typeface="Calibri" pitchFamily="34" charset="-122"/>
                <a:cs typeface="Calibri" pitchFamily="34" charset="-120"/>
              </a:rPr>
              <a:t>…the governance-aware condition correctly identified a police dormitory (警察宿舍) from record PL-03.</a:t>
            </a:r>
            <a:endParaRPr lang="en-US" sz="1600" dirty="0"/>
          </a:p>
          <a:p>
            <a:pPr indent="0" marL="0">
              <a:lnSpc>
                <a:spcPts val="2900"/>
              </a:lnSpc>
              <a:spcAft>
                <a:spcPts val="900"/>
              </a:spcAft>
              <a:buNone/>
            </a:pPr>
            <a:r>
              <a:rPr lang="en-US" sz="1600" dirty="0">
                <a:solidFill>
                  <a:srgbClr val="2B2B2B"/>
                </a:solidFill>
                <a:latin typeface="Calibri" pitchFamily="34" charset="0"/>
                <a:ea typeface="Calibri" pitchFamily="34" charset="-122"/>
                <a:cs typeface="Calibri" pitchFamily="34" charset="-120"/>
              </a:rPr>
              <a:t>…RAG retrieved NE-01 and OB-01, correctly returning 石塭 (shi-wen) with its cultural significance.</a:t>
            </a:r>
            <a:endParaRPr lang="en-US" sz="1600" dirty="0"/>
          </a:p>
          <a:p>
            <a:pPr indent="0" marL="0">
              <a:lnSpc>
                <a:spcPts val="2900"/>
              </a:lnSpc>
              <a:spcAft>
                <a:spcPts val="900"/>
              </a:spcAft>
              <a:buNone/>
            </a:pPr>
            <a:r>
              <a:rPr lang="en-US" sz="1600" dirty="0">
                <a:solidFill>
                  <a:srgbClr val="2B2B2B"/>
                </a:solidFill>
                <a:latin typeface="Calibri" pitchFamily="34" charset="0"/>
                <a:ea typeface="Calibri" pitchFamily="34" charset="-122"/>
                <a:cs typeface="Calibri" pitchFamily="34" charset="-120"/>
              </a:rPr>
              <a:t>…the governed dataset (OB-02) specifies the precise rate of approximately 1 cm per 10 years.</a:t>
            </a:r>
            <a:endParaRPr lang="en-US" sz="16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Every corrected answer names the record it came from. That is the check that the mechanism is retrieval rather than luck — an unconstrained model that happened to be right could not cite PL-03.</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§5.3 AI Reliability</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taxonomy of the baseline's failures</a:t>
            </a:r>
            <a:endParaRPr lang="en-US" sz="2700" dirty="0"/>
          </a:p>
        </p:txBody>
      </p:sp>
      <p:pic>
        <p:nvPicPr>
          <p:cNvPr id="4" name="Image 0" descr="/home/claude/g_taxonomy.png">    </p:cNvPr>
          <p:cNvPicPr>
            <a:picLocks noChangeAspect="1"/>
          </p:cNvPicPr>
          <p:nvPr/>
        </p:nvPicPr>
        <p:blipFill>
          <a:blip r:embed="rId1"/>
          <a:stretch>
            <a:fillRect/>
          </a:stretch>
        </p:blipFill>
        <p:spPr>
          <a:xfrm>
            <a:off x="868680" y="1554480"/>
            <a:ext cx="10424160" cy="2743200"/>
          </a:xfrm>
          <a:prstGeom prst="rect">
            <a:avLst/>
          </a:prstGeom>
        </p:spPr>
      </p:pic>
      <p:sp>
        <p:nvSpPr>
          <p:cNvPr id="5" name="Text 2"/>
          <p:cNvSpPr txBox="1"/>
          <p:nvPr/>
        </p:nvSpPr>
        <p:spPr>
          <a:xfrm>
            <a:off x="868680" y="4434840"/>
            <a:ext cx="10424160" cy="274320"/>
          </a:xfrm>
          <a:prstGeom prst="rect">
            <a:avLst/>
          </a:prstGeom>
          <a:noFill/>
          <a:ln/>
        </p:spPr>
        <p:txBody>
          <a:bodyPr wrap="square" lIns="0" tIns="0" rIns="0" bIns="0" rtlCol="0" anchor="ctr"/>
          <a:lstStyle/>
          <a:p>
            <a:pPr indent="0" marL="0">
              <a:buNone/>
            </a:pPr>
            <a:r>
              <a:rPr lang="en-US" sz="1100" i="1" dirty="0">
                <a:solidFill>
                  <a:srgbClr val="7A7A7A"/>
                </a:solidFill>
                <a:latin typeface="Calibri" pitchFamily="34" charset="0"/>
                <a:ea typeface="Calibri" pitchFamily="34" charset="-122"/>
                <a:cs typeface="Calibri" pitchFamily="34" charset="-120"/>
              </a:rPr>
              <a:t>The baseline added soy sauce to the 鹹醢飯 recipe where the dataset specifies only salt, garlic and rice wine (OB-04).</a:t>
            </a:r>
            <a:endParaRPr lang="en-US" sz="1100" dirty="0"/>
          </a:p>
        </p:txBody>
      </p:sp>
      <p:sp>
        <p:nvSpPr>
          <p:cNvPr id="6" name="Text 3"/>
          <p:cNvSpPr txBox="1"/>
          <p:nvPr/>
        </p:nvSpPr>
        <p:spPr>
          <a:xfrm>
            <a:off x="548640" y="498348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Three categories, one mechanism: the model fills a slot it cannot leave empty. That is why grounding is the fix and additional accuracy training is not — the behaviour is structural, not a knowledge deficit.</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§5.3 AI Reliability</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unexpected finding</a:t>
            </a:r>
            <a:endParaRPr lang="en-US" sz="2700" dirty="0"/>
          </a:p>
        </p:txBody>
      </p:sp>
      <p:sp>
        <p:nvSpPr>
          <p:cNvPr id="4" name="Text 2"/>
          <p:cNvSpPr txBox="1"/>
          <p:nvPr/>
        </p:nvSpPr>
        <p:spPr>
          <a:xfrm>
            <a:off x="548640" y="1371600"/>
            <a:ext cx="11064240" cy="566928"/>
          </a:xfrm>
          <a:prstGeom prst="rect">
            <a:avLst/>
          </a:prstGeom>
          <a:noFill/>
          <a:ln/>
        </p:spPr>
        <p:txBody>
          <a:bodyPr wrap="square" lIns="0" tIns="0" rIns="0" bIns="0" rtlCol="0" anchor="ctr"/>
          <a:lstStyle/>
          <a:p>
            <a:pPr indent="0" marL="0">
              <a:lnSpc>
                <a:spcPts val="2100"/>
              </a:lnSpc>
              <a:buNone/>
            </a:pPr>
            <a:r>
              <a:rPr lang="en-US" sz="1350" dirty="0">
                <a:solidFill>
                  <a:srgbClr val="2B2B2B"/>
                </a:solidFill>
                <a:latin typeface="Calibri" pitchFamily="34" charset="0"/>
                <a:ea typeface="Calibri" pitchFamily="34" charset="-122"/>
                <a:cs typeface="Calibri" pitchFamily="34" charset="-120"/>
              </a:rPr>
              <a:t>An unexpected finding was the degree to which the baseline produced confident hedging: rather than admitting ignorance, it generated syntactically authoritative but semantically empty responses, which score poorly on grounding while superficially appearing careful.</a:t>
            </a:r>
            <a:endParaRPr lang="en-US" sz="13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377440"/>
                <a:gridCol w="3931920"/>
                <a:gridCol w="4754880"/>
              </a:tblGrid>
              <a:tr h="0">
                <a:tc>
                  <a:txBody>
                    <a:bodyPr/>
                    <a:lstStyle/>
                    <a:p>
                      <a:pPr algn="l" indent="0" marL="0">
                        <a:buNone/>
                      </a:pP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Governance-aware RAG</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Unconstrained baseline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Strongest 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Vocabulary — 6/6 exact Hakka-term retrieval</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Items answerable from general legal knowledge, e.g. identifying the Cultural Heritage Preservation Act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Weakest 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Heritage interpretation — correct, but occasionally verbose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Local specificity: village-level distinctions (Q-02, Q-05, Q-11) and Hakka terminology (Q-13, Q-16)</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Still source-grounded?</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 on every one of the 24 items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 grounding mechanism at all</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12064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Confident hedging defeats the ordinary human safeguard of reading for uncertainty cues. It makes the error rate invisible to exactly the reviewer a community would appoint — which is why output review cannot substitute for an upstream gate.</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§5.3 AI Reliability</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 · READING THE EVIDENCE HONESTLY</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500" b="1" dirty="0">
                <a:solidFill>
                  <a:srgbClr val="1E2761"/>
                </a:solidFill>
                <a:latin typeface="Cambria" pitchFamily="34" charset="0"/>
                <a:ea typeface="Cambria" pitchFamily="34" charset="-122"/>
                <a:cs typeface="Cambria" pitchFamily="34" charset="-120"/>
              </a:rPr>
              <a:t>The structural asymmetry</a:t>
            </a:r>
            <a:endParaRPr lang="en-US" sz="2500" dirty="0"/>
          </a:p>
        </p:txBody>
      </p:sp>
      <p:sp>
        <p:nvSpPr>
          <p:cNvPr id="4" name="Text 2"/>
          <p:cNvSpPr txBox="1"/>
          <p:nvPr/>
        </p:nvSpPr>
        <p:spPr>
          <a:xfrm>
            <a:off x="548640" y="1371600"/>
            <a:ext cx="11064240" cy="384048"/>
          </a:xfrm>
          <a:prstGeom prst="rect">
            <a:avLst/>
          </a:prstGeom>
          <a:noFill/>
          <a:ln/>
        </p:spPr>
        <p:txBody>
          <a:bodyPr wrap="square" lIns="0" tIns="0" rIns="0" bIns="0" rtlCol="0" anchor="ctr"/>
          <a:lstStyle/>
          <a:p>
            <a:pPr indent="0" marL="0">
              <a:lnSpc>
                <a:spcPts val="2000"/>
              </a:lnSpc>
              <a:buNone/>
            </a:pPr>
            <a:r>
              <a:rPr lang="en-US" sz="1300" dirty="0">
                <a:solidFill>
                  <a:srgbClr val="2B2B2B"/>
                </a:solidFill>
                <a:latin typeface="Calibri" pitchFamily="34" charset="0"/>
                <a:ea typeface="Calibri" pitchFamily="34" charset="-122"/>
                <a:cs typeface="Calibri" pitchFamily="34" charset="-120"/>
              </a:rPr>
              <a:t>Governance-aware RAG benefits from a constrained retrieval scope that eliminates hallucination by design, whereas the unconstrained baseline operates without any grounding mechanism.</a:t>
            </a:r>
            <a:endParaRPr lang="en-US" sz="1300" dirty="0"/>
          </a:p>
        </p:txBody>
      </p:sp>
      <p:pic>
        <p:nvPicPr>
          <p:cNvPr id="5" name="Image 0" descr="/home/claude/g_conditions.png">    </p:cNvPr>
          <p:cNvPicPr>
            <a:picLocks noChangeAspect="1"/>
          </p:cNvPicPr>
          <p:nvPr/>
        </p:nvPicPr>
        <p:blipFill>
          <a:blip r:embed="rId1"/>
          <a:stretch>
            <a:fillRect/>
          </a:stretch>
        </p:blipFill>
        <p:spPr>
          <a:xfrm>
            <a:off x="685800" y="1965960"/>
            <a:ext cx="10789920" cy="3154680"/>
          </a:xfrm>
          <a:prstGeom prst="rect">
            <a:avLst/>
          </a:prstGeom>
        </p:spPr>
      </p:pic>
      <p:sp>
        <p:nvSpPr>
          <p:cNvPr id="6" name="Text 3"/>
          <p:cNvSpPr txBox="1"/>
          <p:nvPr/>
        </p:nvSpPr>
        <p:spPr>
          <a:xfrm>
            <a:off x="548640" y="52578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comparison establishes that grounding matters. It cannot establish that governance metadata matters. Those are different claims with different policy consequences — one argues for retrieval, the other for consent infrastructure.</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Conditions A and B verbatim: §5.3. Condition C proposed in §6 Discussion, Methodological reflections</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 · READING THE EVIDENCE HONESTLY</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500" b="1" dirty="0">
                <a:solidFill>
                  <a:srgbClr val="1E2761"/>
                </a:solidFill>
                <a:latin typeface="Cambria" pitchFamily="34" charset="0"/>
                <a:ea typeface="Cambria" pitchFamily="34" charset="-122"/>
                <a:cs typeface="Cambria" pitchFamily="34" charset="-120"/>
              </a:rPr>
              <a:t>Measurement limits</a:t>
            </a:r>
            <a:endParaRPr lang="en-US" sz="25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017520"/>
                <a:gridCol w="5394960"/>
                <a:gridCol w="265176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Limitation</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it prevents us claiming</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Fix at TRL-4</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24 QA gold items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Any subgroup comparison by QA type with statistical confidence — six per type is descriptive only</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Expand the gold set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A single rater</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That scoring was independent of the design intention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A second, independent rater</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No inter-rater reliability, on QA or on semantic preservation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Confidence in the scores themselves, as distinct from the system</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Formal IRR on both</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The rater is also an author of the artifact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Blindness to which condition was being scored</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Blind scoring with shuffled condition labels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21208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A single rater who is also a designer of the artifact cannot separate scoring from intention. The per-type patterns at slide 39 are therefore diagnostic hypotheses for the next study, not findings.</a:t>
            </a:r>
            <a:endParaRPr lang="en-US" sz="10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Rows 1–3 verbatim: §7 Limitations and §5.2. Row 4 and the fix column added for this talk</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 · READING THE EVIDENCE HONESTLY</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500" b="1" dirty="0">
                <a:solidFill>
                  <a:srgbClr val="1E2761"/>
                </a:solidFill>
                <a:latin typeface="Cambria" pitchFamily="34" charset="0"/>
                <a:ea typeface="Cambria" pitchFamily="34" charset="-122"/>
                <a:cs typeface="Cambria" pitchFamily="34" charset="-120"/>
              </a:rPr>
              <a:t>Scope limits</a:t>
            </a:r>
            <a:endParaRPr lang="en-US" sz="2500" dirty="0"/>
          </a:p>
        </p:txBody>
      </p:sp>
      <p:sp>
        <p:nvSpPr>
          <p:cNvPr id="4" name="Text 2"/>
          <p:cNvSpPr txBox="1"/>
          <p:nvPr/>
        </p:nvSpPr>
        <p:spPr>
          <a:xfrm>
            <a:off x="548640" y="1371600"/>
            <a:ext cx="11064240" cy="384048"/>
          </a:xfrm>
          <a:prstGeom prst="rect">
            <a:avLst/>
          </a:prstGeom>
          <a:noFill/>
          <a:ln/>
        </p:spPr>
        <p:txBody>
          <a:bodyPr wrap="square" lIns="0" tIns="0" rIns="0" bIns="0" rtlCol="0" anchor="ctr"/>
          <a:lstStyle/>
          <a:p>
            <a:pPr indent="0" marL="0">
              <a:lnSpc>
                <a:spcPts val="2000"/>
              </a:lnSpc>
              <a:buNone/>
            </a:pPr>
            <a:r>
              <a:rPr lang="en-US" sz="1300" dirty="0">
                <a:solidFill>
                  <a:srgbClr val="2B2B2B"/>
                </a:solidFill>
                <a:latin typeface="Calibri" pitchFamily="34" charset="0"/>
                <a:ea typeface="Calibri" pitchFamily="34" charset="-122"/>
                <a:cs typeface="Calibri" pitchFamily="34" charset="-120"/>
              </a:rPr>
              <a:t>The dataset derives from a single published narrative (~4,000 characters), limiting claims about generalizability to other heritage domains, narrative types, or community governance contexts.</a:t>
            </a:r>
            <a:endParaRPr lang="en-US" sz="1300" dirty="0"/>
          </a:p>
        </p:txBody>
      </p:sp>
      <p:pic>
        <p:nvPicPr>
          <p:cNvPr id="5" name="Image 0" descr="/home/claude/g_scope.png">    </p:cNvPr>
          <p:cNvPicPr>
            <a:picLocks noChangeAspect="1"/>
          </p:cNvPicPr>
          <p:nvPr/>
        </p:nvPicPr>
        <p:blipFill>
          <a:blip r:embed="rId1"/>
          <a:stretch>
            <a:fillRect/>
          </a:stretch>
        </p:blipFill>
        <p:spPr>
          <a:xfrm>
            <a:off x="1874520" y="1920240"/>
            <a:ext cx="8412480" cy="2862072"/>
          </a:xfrm>
          <a:prstGeom prst="rect">
            <a:avLst/>
          </a:prstGeom>
        </p:spPr>
      </p:pic>
      <p:sp>
        <p:nvSpPr>
          <p:cNvPr id="6" name="Text 3"/>
          <p:cNvSpPr txBox="1"/>
          <p:nvPr/>
        </p:nvSpPr>
        <p:spPr>
          <a:xfrm>
            <a:off x="548640" y="4873752"/>
            <a:ext cx="11064240" cy="274320"/>
          </a:xfrm>
          <a:prstGeom prst="rect">
            <a:avLst/>
          </a:prstGeom>
          <a:noFill/>
          <a:ln/>
        </p:spPr>
        <p:txBody>
          <a:bodyPr wrap="square" lIns="0" tIns="0" rIns="0" bIns="0" rtlCol="0" anchor="ctr"/>
          <a:lstStyle/>
          <a:p>
            <a:pPr algn="ctr" indent="0" marL="0">
              <a:buNone/>
            </a:pPr>
            <a:r>
              <a:rPr lang="en-US" sz="1100" i="1" dirty="0">
                <a:solidFill>
                  <a:srgbClr val="7A7A7A"/>
                </a:solidFill>
                <a:latin typeface="Calibri" pitchFamily="34" charset="0"/>
                <a:ea typeface="Calibri" pitchFamily="34" charset="-122"/>
                <a:cs typeface="Calibri" pitchFamily="34" charset="-120"/>
              </a:rPr>
              <a:t>Every claim in Act VI lives in the innermost box. Nothing measured here travels outward on its own.</a:t>
            </a:r>
            <a:endParaRPr lang="en-US" sz="1100" dirty="0"/>
          </a:p>
        </p:txBody>
      </p:sp>
      <p:sp>
        <p:nvSpPr>
          <p:cNvPr id="7" name="Text 4"/>
          <p:cNvSpPr txBox="1"/>
          <p:nvPr/>
        </p:nvSpPr>
        <p:spPr>
          <a:xfrm>
            <a:off x="548640" y="52578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One limit is not about scale at all: a single published narrative means the FPIC "assumed" decision was never tested against unpublished oral testimony — the harder and far more common case.</a:t>
            </a:r>
            <a:endParaRPr lang="en-US" sz="1000" dirty="0"/>
          </a:p>
        </p:txBody>
      </p:sp>
      <p:sp>
        <p:nvSpPr>
          <p:cNvPr id="8" name="Text 5"/>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§7 Limitations and Future Work. Scope diagram composed for this talk</a:t>
            </a:r>
            <a:endParaRPr lang="en-US" sz="900" dirty="0"/>
          </a:p>
        </p:txBody>
      </p:sp>
      <p:sp>
        <p:nvSpPr>
          <p:cNvPr id="9" name="Text 6"/>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 · READING THE EVIDENCE HONESTLY</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500" b="1" dirty="0">
                <a:solidFill>
                  <a:srgbClr val="1E2761"/>
                </a:solidFill>
                <a:latin typeface="Cambria" pitchFamily="34" charset="0"/>
                <a:ea typeface="Cambria" pitchFamily="34" charset="-122"/>
                <a:cs typeface="Cambria" pitchFamily="34" charset="-120"/>
              </a:rPr>
              <a:t>What these results do and do not license</a:t>
            </a:r>
            <a:endParaRPr lang="en-US" sz="25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5532120"/>
                <a:gridCol w="553212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The permitted claims</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The forbidden claims</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Governance-first is feasible at community scale: 35 records, complete on every field, ~8-12 minutes each.</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Governance-aware RAG eliminates hallucination. (It did so here, on 24 items, over 35 records.)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Governance constraints measurably changed the error profile in this case.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The governance metadata - rather than the retrieval grounding - caused the improvement.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Minimal CIDOC-CRM preserved the culturally specific distinctions this narrative contained.</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The minimal profile will hold for multi-narrative or cross-institutional corpora.</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The pipeline is demonstrated end to end at TRL-3.</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The system is validated with users, or ready for deployment.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44068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Give the audience both sentences literally. Reviewers remember the speaker who supplied the wording for the claim they are allowed to quote - and it protects the work from being over-claimed by someone else later.</a:t>
            </a:r>
            <a:endParaRPr lang="en-US" sz="10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Left column condensed from §8 Conclusion; right column from §6-§7 limitations</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From generation to governance</a:t>
            </a:r>
            <a:endParaRPr lang="en-US" sz="27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lnSpc>
                <a:spcPts val="2000"/>
              </a:lnSpc>
              <a:buNone/>
            </a:pPr>
            <a:r>
              <a:rPr lang="en-US" sz="1350" dirty="0">
                <a:solidFill>
                  <a:srgbClr val="2B2B2B"/>
                </a:solidFill>
                <a:latin typeface="Calibri" pitchFamily="34" charset="0"/>
                <a:ea typeface="Calibri" pitchFamily="34" charset="-122"/>
                <a:cs typeface="Calibri" pitchFamily="34" charset="-120"/>
              </a:rPr>
              <a:t>Results support reorienting cultural heritage AI from generation-first to governance-first. The governance-before-generation principle changes the epistemic basis of AI outputs.</a:t>
            </a:r>
            <a:endParaRPr lang="en-US" sz="13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651760"/>
                <a:gridCol w="3931920"/>
                <a:gridCol w="4480560"/>
              </a:tblGrid>
              <a:tr h="0">
                <a:tc>
                  <a:txBody>
                    <a:bodyPr/>
                    <a:lstStyle/>
                    <a:p>
                      <a:pPr algn="l" indent="0" marL="0">
                        <a:buNone/>
                      </a:pP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Generation-first</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Governance-first</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What an answer is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The model's best guess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 claim traceable to a governed record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What stands behind it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The training distribution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Provenance, licensing and consent status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Who is accountable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No one identifiable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The reviewer named in the record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When it is challenged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Re-prompt and hope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Open the record</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What "wrong" means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Inconsistent with the world — unfalsifiable in practice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Inconsistent with the source — checkable in seconds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2578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change is epistemic, not procedural. An answer stops being a best guess and becomes a claim someone is accountable for — which is also the only version of the output a community can contest.</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Row 1 verbatim: §6 Discussion. Comparison table added for this talk</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Small data is not the obstacle</a:t>
            </a:r>
            <a:endParaRPr lang="en-US" sz="2700" dirty="0"/>
          </a:p>
        </p:txBody>
      </p:sp>
      <p:sp>
        <p:nvSpPr>
          <p:cNvPr id="4" name="Text 2"/>
          <p:cNvSpPr txBox="1"/>
          <p:nvPr/>
        </p:nvSpPr>
        <p:spPr>
          <a:xfrm>
            <a:off x="548640" y="1371600"/>
            <a:ext cx="11064240" cy="384048"/>
          </a:xfrm>
          <a:prstGeom prst="rect">
            <a:avLst/>
          </a:prstGeom>
          <a:noFill/>
          <a:ln/>
        </p:spPr>
        <p:txBody>
          <a:bodyPr wrap="square" lIns="0" tIns="0" rIns="0" bIns="0" rtlCol="0" anchor="ctr"/>
          <a:lstStyle/>
          <a:p>
            <a:pPr indent="0" marL="0">
              <a:lnSpc>
                <a:spcPts val="2000"/>
              </a:lnSpc>
              <a:buNone/>
            </a:pPr>
            <a:r>
              <a:rPr lang="en-US" sz="1350" dirty="0">
                <a:solidFill>
                  <a:srgbClr val="2B2B2B"/>
                </a:solidFill>
                <a:latin typeface="Calibri" pitchFamily="34" charset="0"/>
                <a:ea typeface="Calibri" pitchFamily="34" charset="-122"/>
                <a:cs typeface="Calibri" pitchFamily="34" charset="-120"/>
              </a:rPr>
              <a:t>Governance completeness is achievable with 35 records. For community organizations, the question is not record volume but whether each record's provenance, consent, and cultural accuracy are verified.</a:t>
            </a:r>
            <a:endParaRPr lang="en-US" sz="1350" dirty="0"/>
          </a:p>
        </p:txBody>
      </p:sp>
      <p:pic>
        <p:nvPicPr>
          <p:cNvPr id="5" name="Image 0" descr="/home/claude/g_cost.png">    </p:cNvPr>
          <p:cNvPicPr>
            <a:picLocks noChangeAspect="1"/>
          </p:cNvPicPr>
          <p:nvPr/>
        </p:nvPicPr>
        <p:blipFill>
          <a:blip r:embed="rId1"/>
          <a:stretch>
            <a:fillRect/>
          </a:stretch>
        </p:blipFill>
        <p:spPr>
          <a:xfrm>
            <a:off x="1051560" y="1965960"/>
            <a:ext cx="10058400" cy="3108960"/>
          </a:xfrm>
          <a:prstGeom prst="rect">
            <a:avLst/>
          </a:prstGeom>
        </p:spPr>
      </p:pic>
      <p:sp>
        <p:nvSpPr>
          <p:cNvPr id="6" name="Text 3"/>
          <p:cNvSpPr txBox="1"/>
          <p:nvPr/>
        </p:nvSpPr>
        <p:spPr>
          <a:xfrm>
            <a:off x="548640" y="5212080"/>
            <a:ext cx="11064240" cy="77724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binding constraint is verification cost per record, not corpus size — so a larger dataset is not automatically a better one under CARE. It is simply a larger claim on the same volunteer hours.</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Sentences verbatim: §6 Discussion, Small-data feasibility. Projection derived from the 8–12 min/record figure in §5.1</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gap in CARE surfaced by implementation</a:t>
            </a:r>
            <a:endParaRPr lang="en-US" sz="2700" dirty="0"/>
          </a:p>
        </p:txBody>
      </p:sp>
      <p:sp>
        <p:nvSpPr>
          <p:cNvPr id="4" name="Text 2"/>
          <p:cNvSpPr txBox="1"/>
          <p:nvPr/>
        </p:nvSpPr>
        <p:spPr>
          <a:xfrm>
            <a:off x="548640" y="1371600"/>
            <a:ext cx="11064240" cy="502920"/>
          </a:xfrm>
          <a:prstGeom prst="rect">
            <a:avLst/>
          </a:prstGeom>
          <a:noFill/>
          <a:ln/>
        </p:spPr>
        <p:txBody>
          <a:bodyPr wrap="square" lIns="0" tIns="0" rIns="0" bIns="0" rtlCol="0" anchor="ctr"/>
          <a:lstStyle/>
          <a:p>
            <a:pPr indent="0" marL="0">
              <a:lnSpc>
                <a:spcPts val="2000"/>
              </a:lnSpc>
              <a:buNone/>
            </a:pPr>
            <a:r>
              <a:rPr lang="en-US" sz="1300" dirty="0">
                <a:solidFill>
                  <a:srgbClr val="2B2B2B"/>
                </a:solidFill>
                <a:latin typeface="Calibri" pitchFamily="34" charset="0"/>
                <a:ea typeface="Calibri" pitchFamily="34" charset="-122"/>
                <a:cs typeface="Calibri" pitchFamily="34" charset="-120"/>
              </a:rPr>
              <a:t>Because the source text is already in the public domain, the conventional FPIC binary (consent obtained / not obtained) does not straightforwardly apply; we resolved this by assigning "assumed" FPIC status with a documented rationale.</a:t>
            </a:r>
            <a:endParaRPr lang="en-US" sz="13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2651760"/>
                <a:gridCol w="3931920"/>
                <a:gridCol w="4480560"/>
              </a:tblGrid>
              <a:tr h="0">
                <a:tc>
                  <a:txBody>
                    <a:bodyPr/>
                    <a:lstStyle/>
                    <a:p>
                      <a:pPr algn="l" indent="0" marL="0">
                        <a:buNone/>
                      </a:pP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The FPIC field as used here</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TK / BC Labels  (Local Contexts)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Form of the value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Binary — obtained / not obtained</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Graded vocabulary across three categories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Categories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Provenance  ·  Protocol  ·  Permission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Fits already-published material?</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 — the binary does not apply, so "assumed" was written in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 — designed for material circulating outside its community context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Machine-actionable?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Only as free text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 — a controlled value a system can read</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Who sets it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The researcher, by inference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The community, as an assertion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2578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binary fails because publication and ingestion are different acts. A graded vocabulary for exactly this case already exists — adopting it would replace free-text "assumed" with a value a retrieval system can obey.</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Left column and para. 1 verbatim: §6 Discussion, Methodological reflections. Right column: Local Contexts TK/BC Labels</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Socio-technical dependency</a:t>
            </a:r>
            <a:endParaRPr lang="en-US" sz="27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lnSpc>
                <a:spcPts val="2000"/>
              </a:lnSpc>
              <a:buNone/>
            </a:pPr>
            <a:r>
              <a:rPr lang="en-US" sz="1350" dirty="0">
                <a:solidFill>
                  <a:srgbClr val="2B2B2B"/>
                </a:solidFill>
                <a:latin typeface="Calibri" pitchFamily="34" charset="0"/>
                <a:ea typeface="Calibri" pitchFamily="34" charset="-122"/>
                <a:cs typeface="Calibri" pitchFamily="34" charset="-120"/>
              </a:rPr>
              <a:t>Human-in-the-loop ensures accuracy but depends on knowledge holder availability. The dual-module design (QA + guided narrative) addresses the interactivity–control tension.</a:t>
            </a:r>
            <a:endParaRPr lang="en-US" sz="1350" dirty="0"/>
          </a:p>
        </p:txBody>
      </p:sp>
      <p:pic>
        <p:nvPicPr>
          <p:cNvPr id="5" name="Image 0" descr="/home/claude/g_chain.png">    </p:cNvPr>
          <p:cNvPicPr>
            <a:picLocks noChangeAspect="1"/>
          </p:cNvPicPr>
          <p:nvPr/>
        </p:nvPicPr>
        <p:blipFill>
          <a:blip r:embed="rId1"/>
          <a:stretch>
            <a:fillRect/>
          </a:stretch>
        </p:blipFill>
        <p:spPr>
          <a:xfrm>
            <a:off x="685800" y="2057400"/>
            <a:ext cx="10789920" cy="2386584"/>
          </a:xfrm>
          <a:prstGeom prst="rect">
            <a:avLst/>
          </a:prstGeom>
        </p:spPr>
      </p:pic>
      <p:sp>
        <p:nvSpPr>
          <p:cNvPr id="6" name="Text 3"/>
          <p:cNvSpPr txBox="1"/>
          <p:nvPr/>
        </p:nvSpPr>
        <p:spPr>
          <a:xfrm>
            <a:off x="548640" y="502920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Each link is fixed by the one before it. The corpus size you choose is, in the end, a claim on the free weekends of about thirty people who already spend them rebuilding weirs.</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Sentence verbatim: §6 Discussion. Constraint chain composed for this talk from §5.1 and the source narrative</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Transferability</a:t>
            </a:r>
            <a:endParaRPr lang="en-US" sz="2700" dirty="0"/>
          </a:p>
        </p:txBody>
      </p:sp>
      <p:sp>
        <p:nvSpPr>
          <p:cNvPr id="4" name="Text 2"/>
          <p:cNvSpPr txBox="1"/>
          <p:nvPr/>
        </p:nvSpPr>
        <p:spPr>
          <a:xfrm>
            <a:off x="548640" y="1371600"/>
            <a:ext cx="11064240" cy="29260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This pattern transfers to any domain consuming community-generated qualitative data.</a:t>
            </a:r>
            <a:endParaRPr lang="en-US" sz="13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657600"/>
                <a:gridCol w="5669280"/>
                <a:gridCol w="173736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Does authority over the data sit with the people it describes?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Transfers?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Oral history collections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 — the narrator holds it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Community health narratives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 — and consent is already a live category</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Indigenous land and ecological knowledge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 — this is CARE's original case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Community archives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 — custody is local by definition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Institutional museum catalogue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 — authority sits with the institution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Partly</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Web-scraped corpus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 — no identifiable authority at all</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212080"/>
            <a:ext cx="11064240" cy="82296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transfer condition is a test, not a list: the pattern holds wherever authority over the data is held by the people the data describes. That is what makes it a paradigm claim rather than a case report.</a:t>
            </a:r>
            <a:endParaRPr lang="en-US" sz="10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Row 1 verbatim: §6 Discussion. Domain table added for this talk</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IX · FORWARD &amp; CLOSE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next experiment</a:t>
            </a:r>
            <a:endParaRPr lang="en-US" sz="27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931920"/>
                <a:gridCol w="4480560"/>
                <a:gridCol w="265176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Next step</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it unblocks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Third condition — RAG without governance metadata</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Decides which of the two claims on slide 43 is defensible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Low — one more run over the same 24 items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Inter-rater reliability assessment</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Decides whether the scores themselves can be trusted</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Low — a second rater, same rubric</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Execute the user study (n ≈ 20–30)</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Completes the DSR evaluation activity; trust and learning outcomes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Medium — fieldwork with the community</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Expand to multiple narratives and communities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Tests whether the minimal profile and the FPIC decision hold</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High — and meaningless before the three above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Cross-institutional protocols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Opens the Maritime Knowledge Commons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High — requires partners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440680"/>
            <a:ext cx="11064240" cy="77724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Ordered by what each unblocks, not by ambition. The retrieval-only control is cheap and decisive; without it the headline result stays ambiguous no matter how many narratives are added.</a:t>
            </a:r>
            <a:endParaRPr lang="en-US" sz="10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Items verbatim: §7 Future priorities. Ordering and cost column added for this talk</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IX · FORWARD &amp; CLOSE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Toward a Maritime Knowledge Commons</a:t>
            </a:r>
            <a:endParaRPr lang="en-US" sz="2700" dirty="0"/>
          </a:p>
        </p:txBody>
      </p:sp>
      <p:sp>
        <p:nvSpPr>
          <p:cNvPr id="4" name="Text 2"/>
          <p:cNvSpPr txBox="1"/>
          <p:nvPr/>
        </p:nvSpPr>
        <p:spPr>
          <a:xfrm>
            <a:off x="548640" y="1645920"/>
            <a:ext cx="11064240" cy="2103120"/>
          </a:xfrm>
          <a:prstGeom prst="rect">
            <a:avLst/>
          </a:prstGeom>
          <a:noFill/>
          <a:ln/>
        </p:spPr>
        <p:txBody>
          <a:bodyPr wrap="square" lIns="0" tIns="0" rIns="0" bIns="0" rtlCol="0" anchor="t"/>
          <a:lstStyle/>
          <a:p>
            <a:pPr indent="0" marL="0">
              <a:lnSpc>
                <a:spcPts val="2600"/>
              </a:lnSpc>
              <a:spcAft>
                <a:spcPts val="900"/>
              </a:spcAft>
              <a:buNone/>
            </a:pPr>
            <a:r>
              <a:rPr lang="en-US" sz="1550" dirty="0">
                <a:solidFill>
                  <a:srgbClr val="2B2B2B"/>
                </a:solidFill>
                <a:latin typeface="Calibri" pitchFamily="34" charset="0"/>
                <a:ea typeface="Calibri" pitchFamily="34" charset="-122"/>
                <a:cs typeface="Calibri" pitchFamily="34" charset="-120"/>
              </a:rPr>
              <a:t>Standardized CIDOC-CRM/PROV-O records enable federated discovery across organizations without centralized aggregation — aligning with CARE's emphasis on community authority over data (Carroll et al., 2020).</a:t>
            </a:r>
            <a:endParaRPr lang="en-US" sz="15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Federation rather than aggregation is the technical form of CARE's authority principle: discovery is shared, custody is not. A central repository would deliver the same search and quietly transfer the authority with it.</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Verbatim: §6 Discussion, Toward a Maritime Knowledge Commons</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IX · FORWARD &amp; CLOSE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Governance before generation</a:t>
            </a:r>
            <a:endParaRPr lang="en-US" sz="2700" dirty="0"/>
          </a:p>
        </p:txBody>
      </p:sp>
      <p:sp>
        <p:nvSpPr>
          <p:cNvPr id="4" name="Text 2"/>
          <p:cNvSpPr txBox="1"/>
          <p:nvPr/>
        </p:nvSpPr>
        <p:spPr>
          <a:xfrm>
            <a:off x="548640" y="1481328"/>
            <a:ext cx="6309360" cy="3291840"/>
          </a:xfrm>
          <a:prstGeom prst="rect">
            <a:avLst/>
          </a:prstGeom>
          <a:noFill/>
          <a:ln/>
        </p:spPr>
        <p:txBody>
          <a:bodyPr wrap="square" lIns="0" tIns="0" rIns="0" bIns="0" rtlCol="0" anchor="t"/>
          <a:lstStyle/>
          <a:p>
            <a:pPr indent="0" marL="0">
              <a:lnSpc>
                <a:spcPts val="2000"/>
              </a:lnSpc>
              <a:spcAft>
                <a:spcPts val="900"/>
              </a:spcAft>
              <a:buNone/>
            </a:pPr>
            <a:r>
              <a:rPr lang="en-US" sz="1350" dirty="0">
                <a:solidFill>
                  <a:srgbClr val="2B2B2B"/>
                </a:solidFill>
                <a:latin typeface="Calibri" pitchFamily="34" charset="0"/>
                <a:ea typeface="Calibri" pitchFamily="34" charset="-122"/>
                <a:cs typeface="Calibri" pitchFamily="34" charset="-120"/>
              </a:rPr>
              <a:t>This paper presented a governance-first knowledge system for maritime cultural heritage AI, validated through stone weir heritage data from Xinwu, Taoyuan. Community-scale governance is feasible (RQ1); minimal CIDOC-CRM/PROV-O transformation is effective (RQ2); governance-aware RAG improves reliability (RQ3).</a:t>
            </a:r>
            <a:endParaRPr lang="en-US" sz="1350" dirty="0"/>
          </a:p>
          <a:p>
            <a:pPr indent="0" marL="0">
              <a:lnSpc>
                <a:spcPts val="2000"/>
              </a:lnSpc>
              <a:spcAft>
                <a:spcPts val="900"/>
              </a:spcAft>
              <a:buNone/>
            </a:pPr>
            <a:r>
              <a:rPr lang="en-US" sz="1350" dirty="0">
                <a:solidFill>
                  <a:srgbClr val="2B2B2B"/>
                </a:solidFill>
                <a:latin typeface="Calibri" pitchFamily="34" charset="0"/>
                <a:ea typeface="Calibri" pitchFamily="34" charset="-122"/>
                <a:cs typeface="Calibri" pitchFamily="34" charset="-120"/>
              </a:rPr>
              <a:t>The contribution is not a mature production system but an operational paradigm.</a:t>
            </a:r>
            <a:endParaRPr lang="en-US" sz="1350" dirty="0"/>
          </a:p>
          <a:p>
            <a:pPr indent="0" marL="0">
              <a:lnSpc>
                <a:spcPts val="2000"/>
              </a:lnSpc>
              <a:spcAft>
                <a:spcPts val="900"/>
              </a:spcAft>
              <a:buNone/>
            </a:pPr>
            <a:r>
              <a:rPr lang="en-US" sz="1350" dirty="0">
                <a:solidFill>
                  <a:srgbClr val="2B2B2B"/>
                </a:solidFill>
                <a:latin typeface="Calibri" pitchFamily="34" charset="0"/>
                <a:ea typeface="Calibri" pitchFamily="34" charset="-122"/>
                <a:cs typeface="Calibri" pitchFamily="34" charset="-120"/>
              </a:rPr>
              <a:t>At Yongxing the weirs are already gone. At Kejian and Shenzhen they are being rebuilt on a tide schedule. This is what the dataset is for.</a:t>
            </a:r>
            <a:endParaRPr lang="en-US" sz="13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The urgency is not technological. A governance pipeline is worth building because the thing it governs is still disappearing on a timescale shorter than the standards debate.</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Paras. 1–2 verbatim: §8 Conclusion. Para. 3: source narrative</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51</a:t>
            </a:r>
            <a:endParaRPr lang="en-US" sz="900" dirty="0"/>
          </a:p>
        </p:txBody>
      </p:sp>
      <p:sp>
        <p:nvSpPr>
          <p:cNvPr id="9" name="Shape 6"/>
          <p:cNvSpPr/>
          <p:nvPr/>
        </p:nvSpPr>
        <p:spPr>
          <a:xfrm>
            <a:off x="7132320" y="1444752"/>
            <a:ext cx="4480560" cy="3429000"/>
          </a:xfrm>
          <a:prstGeom prst="roundRect">
            <a:avLst>
              <a:gd name="adj" fmla="val 1333"/>
            </a:avLst>
          </a:prstGeom>
          <a:solidFill>
            <a:srgbClr val="F4F6F9"/>
          </a:solidFill>
          <a:ln w="12700">
            <a:solidFill>
              <a:srgbClr val="B9C4D2"/>
            </a:solidFill>
            <a:prstDash val="dash"/>
          </a:ln>
        </p:spPr>
      </p:sp>
      <p:sp>
        <p:nvSpPr>
          <p:cNvPr id="10" name="Text 7"/>
          <p:cNvSpPr txBox="1"/>
          <p:nvPr/>
        </p:nvSpPr>
        <p:spPr>
          <a:xfrm>
            <a:off x="7278624" y="1609344"/>
            <a:ext cx="4187952" cy="237744"/>
          </a:xfrm>
          <a:prstGeom prst="rect">
            <a:avLst/>
          </a:prstGeom>
          <a:noFill/>
          <a:ln/>
        </p:spPr>
        <p:txBody>
          <a:bodyPr wrap="square" lIns="0" tIns="0" rIns="0" bIns="0" rtlCol="0" anchor="ctr"/>
          <a:lstStyle/>
          <a:p>
            <a:pPr algn="ctr" indent="0" marL="0">
              <a:buNone/>
            </a:pPr>
            <a:r>
              <a:rPr lang="en-US" sz="850" b="1" spc="80" kern="0"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370064" y="1956816"/>
            <a:ext cx="4005072" cy="2697480"/>
          </a:xfrm>
          <a:prstGeom prst="rect">
            <a:avLst/>
          </a:prstGeom>
          <a:noFill/>
          <a:ln/>
        </p:spPr>
        <p:txBody>
          <a:bodyPr wrap="square" lIns="0" tIns="0" rIns="0" bIns="0" rtlCol="0" anchor="t"/>
          <a:lstStyle/>
          <a:p>
            <a:pPr indent="0" marL="0">
              <a:lnSpc>
                <a:spcPts val="1400"/>
              </a:lnSpc>
              <a:spcAft>
                <a:spcPts val="1100"/>
              </a:spcAft>
              <a:buNone/>
            </a:pPr>
            <a:r>
              <a:rPr lang="en-US" sz="950" dirty="0">
                <a:solidFill>
                  <a:srgbClr val="5C6B7E"/>
                </a:solidFill>
                <a:latin typeface="Calibri" pitchFamily="34" charset="0"/>
                <a:ea typeface="Calibri" pitchFamily="34" charset="-122"/>
                <a:cs typeface="Calibri" pitchFamily="34" charset="-120"/>
              </a:rPr>
              <a:t>結尾影像，二選一：永興石滏原址那段空蕩的海岸線（空景本身就讀得出失去，不需說明），或第 9 頁同一群志工在黃昏仍在工作的畫面。只選一張，不要兩張都放。</a:t>
            </a:r>
            <a:endParaRPr lang="en-US" sz="950" dirty="0"/>
          </a:p>
          <a:p>
            <a:pPr indent="0" marL="0">
              <a:lnSpc>
                <a:spcPts val="1400"/>
              </a:lnSpc>
              <a:buNone/>
            </a:pPr>
            <a:r>
              <a:rPr lang="en-US" sz="900" i="1" dirty="0">
                <a:solidFill>
                  <a:srgbClr val="7A8898"/>
                </a:solidFill>
                <a:latin typeface="Calibri" pitchFamily="34" charset="0"/>
                <a:ea typeface="Calibri" pitchFamily="34" charset="-122"/>
                <a:cs typeface="Calibri" pitchFamily="34" charset="-120"/>
              </a:rPr>
              <a:t>The closing image. Either the bare stretch of shoreline where the Yongxing weirs used to be — an empty shoreline reads as loss without a caption — or the same volunteers from slide 9 at dusk, still working. Choose one; do not show both.</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Backup slides</a:t>
            </a:r>
            <a:endParaRPr lang="en-US" sz="2700" dirty="0"/>
          </a:p>
        </p:txBody>
      </p:sp>
      <p:sp>
        <p:nvSpPr>
          <p:cNvPr id="4" name="Text 2"/>
          <p:cNvSpPr txBox="1"/>
          <p:nvPr/>
        </p:nvSpPr>
        <p:spPr>
          <a:xfrm>
            <a:off x="548640" y="1536192"/>
            <a:ext cx="11064240" cy="3383280"/>
          </a:xfrm>
          <a:prstGeom prst="rect">
            <a:avLst/>
          </a:prstGeom>
          <a:noFill/>
          <a:ln/>
        </p:spPr>
        <p:txBody>
          <a:bodyPr wrap="square" lIns="0" tIns="0" rIns="0" bIns="0" rtlCol="0" anchor="t"/>
          <a:lstStyle/>
          <a:p>
            <a:pPr indent="0" marL="0">
              <a:lnSpc>
                <a:spcPts val="2100"/>
              </a:lnSpc>
              <a:spcAft>
                <a:spcPts val="900"/>
              </a:spcAft>
              <a:buNone/>
            </a:pPr>
            <a:r>
              <a:rPr lang="en-US" sz="1300" dirty="0">
                <a:solidFill>
                  <a:srgbClr val="2B2B2B"/>
                </a:solidFill>
                <a:latin typeface="Calibri" pitchFamily="34" charset="0"/>
                <a:ea typeface="Calibri" pitchFamily="34" charset="-122"/>
                <a:cs typeface="Calibri" pitchFamily="34" charset="-120"/>
              </a:rPr>
              <a:t>A1 — Full 24-item QA gold set with scores</a:t>
            </a:r>
            <a:endParaRPr lang="en-US" sz="1300" dirty="0"/>
          </a:p>
          <a:p>
            <a:pPr indent="0" marL="0">
              <a:lnSpc>
                <a:spcPts val="2100"/>
              </a:lnSpc>
              <a:spcAft>
                <a:spcPts val="900"/>
              </a:spcAft>
              <a:buNone/>
            </a:pPr>
            <a:r>
              <a:rPr lang="en-US" sz="1300" dirty="0">
                <a:solidFill>
                  <a:srgbClr val="2B2B2B"/>
                </a:solidFill>
                <a:latin typeface="Calibri" pitchFamily="34" charset="0"/>
                <a:ea typeface="Calibri" pitchFamily="34" charset="-122"/>
                <a:cs typeface="Calibri" pitchFamily="34" charset="-120"/>
              </a:rPr>
              <a:t>A2 — Scoring rubric, dimension by dimension</a:t>
            </a:r>
            <a:endParaRPr lang="en-US" sz="1300" dirty="0"/>
          </a:p>
          <a:p>
            <a:pPr indent="0" marL="0">
              <a:lnSpc>
                <a:spcPts val="2100"/>
              </a:lnSpc>
              <a:spcAft>
                <a:spcPts val="900"/>
              </a:spcAft>
              <a:buNone/>
            </a:pPr>
            <a:r>
              <a:rPr lang="en-US" sz="1300" dirty="0">
                <a:solidFill>
                  <a:srgbClr val="2B2B2B"/>
                </a:solidFill>
                <a:latin typeface="Calibri" pitchFamily="34" charset="0"/>
                <a:ea typeface="Calibri" pitchFamily="34" charset="-122"/>
                <a:cs typeface="Calibri" pitchFamily="34" charset="-120"/>
              </a:rPr>
              <a:t>A3 — Complete governance field schema and a sample record</a:t>
            </a:r>
            <a:endParaRPr lang="en-US" sz="1300" dirty="0"/>
          </a:p>
          <a:p>
            <a:pPr indent="0" marL="0">
              <a:lnSpc>
                <a:spcPts val="2100"/>
              </a:lnSpc>
              <a:spcAft>
                <a:spcPts val="900"/>
              </a:spcAft>
              <a:buNone/>
            </a:pPr>
            <a:r>
              <a:rPr lang="en-US" sz="1300" dirty="0">
                <a:solidFill>
                  <a:srgbClr val="2B2B2B"/>
                </a:solidFill>
                <a:latin typeface="Calibri" pitchFamily="34" charset="0"/>
                <a:ea typeface="Calibri" pitchFamily="34" charset="-122"/>
                <a:cs typeface="Calibri" pitchFamily="34" charset="-120"/>
              </a:rPr>
              <a:t>A4 — CIDOC-CRM mapping table, all 35 records</a:t>
            </a:r>
            <a:endParaRPr lang="en-US" sz="1300" dirty="0"/>
          </a:p>
          <a:p>
            <a:pPr indent="0" marL="0">
              <a:lnSpc>
                <a:spcPts val="2100"/>
              </a:lnSpc>
              <a:spcAft>
                <a:spcPts val="900"/>
              </a:spcAft>
              <a:buNone/>
            </a:pPr>
            <a:r>
              <a:rPr lang="en-US" sz="1300" dirty="0">
                <a:solidFill>
                  <a:srgbClr val="2B2B2B"/>
                </a:solidFill>
                <a:latin typeface="Calibri" pitchFamily="34" charset="0"/>
                <a:ea typeface="Calibri" pitchFamily="34" charset="-122"/>
                <a:cs typeface="Calibri" pitchFamily="34" charset="-120"/>
              </a:rPr>
              <a:t>A5 — Geo-privacy tier decision rules</a:t>
            </a:r>
            <a:endParaRPr lang="en-US" sz="1300" dirty="0"/>
          </a:p>
          <a:p>
            <a:pPr indent="0" marL="0">
              <a:lnSpc>
                <a:spcPts val="2100"/>
              </a:lnSpc>
              <a:spcAft>
                <a:spcPts val="900"/>
              </a:spcAft>
              <a:buNone/>
            </a:pPr>
            <a:r>
              <a:rPr lang="en-US" sz="1300" dirty="0">
                <a:solidFill>
                  <a:srgbClr val="2B2B2B"/>
                </a:solidFill>
                <a:latin typeface="Calibri" pitchFamily="34" charset="0"/>
                <a:ea typeface="Calibri" pitchFamily="34" charset="-122"/>
                <a:cs typeface="Calibri" pitchFamily="34" charset="-120"/>
              </a:rPr>
              <a:t>A6 — User study protocol (n ≈ 20–30, pre/post trust and learning)</a:t>
            </a:r>
            <a:endParaRPr lang="en-US" sz="1300" dirty="0"/>
          </a:p>
          <a:p>
            <a:pPr indent="0" marL="0">
              <a:lnSpc>
                <a:spcPts val="2100"/>
              </a:lnSpc>
              <a:spcAft>
                <a:spcPts val="900"/>
              </a:spcAft>
              <a:buNone/>
            </a:pPr>
            <a:r>
              <a:rPr lang="en-US" sz="1300" dirty="0">
                <a:solidFill>
                  <a:srgbClr val="2B2B2B"/>
                </a:solidFill>
                <a:latin typeface="Calibri" pitchFamily="34" charset="0"/>
                <a:ea typeface="Calibri" pitchFamily="34" charset="-122"/>
                <a:cs typeface="Calibri" pitchFamily="34" charset="-120"/>
              </a:rPr>
              <a:t>A7 — Interaction logging schema</a:t>
            </a:r>
            <a:endParaRPr lang="en-US" sz="1300" dirty="0"/>
          </a:p>
          <a:p>
            <a:pPr indent="0" marL="0">
              <a:lnSpc>
                <a:spcPts val="2100"/>
              </a:lnSpc>
              <a:spcAft>
                <a:spcPts val="900"/>
              </a:spcAft>
              <a:buNone/>
            </a:pPr>
            <a:r>
              <a:rPr lang="en-US" sz="1300" dirty="0">
                <a:solidFill>
                  <a:srgbClr val="2B2B2B"/>
                </a:solidFill>
                <a:latin typeface="Calibri" pitchFamily="34" charset="0"/>
                <a:ea typeface="Calibri" pitchFamily="34" charset="-122"/>
                <a:cs typeface="Calibri" pitchFamily="34" charset="-120"/>
              </a:rPr>
              <a:t>A8 — Data availability and FPIC-compliant access procedure</a:t>
            </a:r>
            <a:endParaRPr lang="en-US" sz="1300" dirty="0"/>
          </a:p>
          <a:p>
            <a:pPr indent="0" marL="0">
              <a:lnSpc>
                <a:spcPts val="2100"/>
              </a:lnSpc>
              <a:spcAft>
                <a:spcPts val="900"/>
              </a:spcAft>
              <a:buNone/>
            </a:pPr>
            <a:r>
              <a:rPr lang="en-US" sz="1300" dirty="0">
                <a:solidFill>
                  <a:srgbClr val="2B2B2B"/>
                </a:solidFill>
                <a:latin typeface="Calibri" pitchFamily="34" charset="0"/>
                <a:ea typeface="Calibri" pitchFamily="34" charset="-122"/>
                <a:cs typeface="Calibri" pitchFamily="34" charset="-120"/>
              </a:rPr>
              <a:t>A9 — Source provenance and the Xinwu timeline</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700"/>
              </a:lnSpc>
              <a:buNone/>
            </a:pPr>
            <a:r>
              <a:rPr lang="en-US" sz="1000" b="1" spc="100" kern="0" dirty="0">
                <a:solidFill>
                  <a:srgbClr val="1E2761"/>
                </a:solidFill>
                <a:latin typeface="Calibri" pitchFamily="34" charset="0"/>
                <a:ea typeface="Calibri" pitchFamily="34" charset="-122"/>
                <a:cs typeface="Calibri" pitchFamily="34" charset="-120"/>
              </a:rPr>
              <a:t>INFERENCE   </a:t>
            </a:r>
            <a:pPr indent="0" marL="0">
              <a:lnSpc>
                <a:spcPts val="1700"/>
              </a:lnSpc>
              <a:buNone/>
            </a:pPr>
            <a:r>
              <a:rPr lang="en-US" sz="1200" dirty="0">
                <a:solidFill>
                  <a:srgbClr val="3A4A7A"/>
                </a:solidFill>
                <a:latin typeface="Calibri" pitchFamily="34" charset="0"/>
                <a:ea typeface="Calibri" pitchFamily="34" charset="-122"/>
                <a:cs typeface="Calibri" pitchFamily="34" charset="-120"/>
              </a:rPr>
              <a:t>A3 and A5 are the two most likely to be requested — a governance sceptic asks for the schema, a heritage specialist asks for the tier rules.</a:t>
            </a:r>
            <a:endParaRPr lang="en-US" sz="10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Structural slide</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External sources used to build the reasoning chains</a:t>
            </a:r>
            <a:endParaRPr lang="en-US" sz="2700" dirty="0"/>
          </a:p>
        </p:txBody>
      </p:sp>
      <p:sp>
        <p:nvSpPr>
          <p:cNvPr id="4" name="Text 2"/>
          <p:cNvSpPr txBox="1"/>
          <p:nvPr/>
        </p:nvSpPr>
        <p:spPr>
          <a:xfrm>
            <a:off x="548640" y="1481328"/>
            <a:ext cx="11064240" cy="4480560"/>
          </a:xfrm>
          <a:prstGeom prst="rect">
            <a:avLst/>
          </a:prstGeom>
          <a:noFill/>
          <a:ln/>
        </p:spPr>
        <p:txBody>
          <a:bodyPr wrap="square" lIns="0" tIns="0" rIns="0" bIns="0" rtlCol="0" anchor="t"/>
          <a:lstStyle/>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Menotti, G. (2025). The model is the museum: generative AI and the expropriation of cultural heritage. AI &amp; Society.</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Carroll, S. R., et al. (2021). Operationalizing the CARE and FAIR principles for Indigenous data futures. Scientific Data 8, 108.</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Local Contexts. Traditional Knowledge (TK) Labels — provenance, protocol and permission categories.</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Hallucination Mitigation for Retrieval-Augmented Large Language Models: A Review. Mathematics 13(5), 856 (2025).</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CIDOC CRM SIG. Documenting Cultural Heritage in Small Museums.</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W3C (2013). PROV-O: The PROV Ontology — Entity, Activity, Agent.</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NASA. Technology Readiness Level definitions (TRL-3: analytical and experimental proof of concept).</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Peffers, K., et al. (2007). A design science research methodology — six activities.</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IPSI (2024). Indicators of Resilience in Socio-ecological Production Landscapes and Seascapes.</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Scientific Data (2024). Employing discrete global grid systems for reproducible data obfuscation.</a:t>
            </a:r>
            <a:endParaRPr lang="en-US" sz="1150" dirty="0"/>
          </a:p>
          <a:p>
            <a:pPr indent="0" marL="0">
              <a:lnSpc>
                <a:spcPts val="1850"/>
              </a:lnSpc>
              <a:spcAft>
                <a:spcPts val="900"/>
              </a:spcAft>
              <a:buNone/>
            </a:pPr>
            <a:r>
              <a:rPr lang="en-US" sz="1150" dirty="0">
                <a:solidFill>
                  <a:srgbClr val="2B2B2B"/>
                </a:solidFill>
                <a:latin typeface="Calibri" pitchFamily="34" charset="0"/>
                <a:ea typeface="Calibri" pitchFamily="34" charset="-122"/>
                <a:cs typeface="Calibri" pitchFamily="34" charset="-120"/>
              </a:rPr>
              <a:t>npj Heritage Science (2026). Towards trustworthy AI in cultural heritage.</a:t>
            </a:r>
            <a:endParaRPr lang="en-US" sz="1150" dirty="0"/>
          </a:p>
        </p:txBody>
      </p:sp>
      <p:sp>
        <p:nvSpPr>
          <p:cNvPr id="5"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i="1" dirty="0">
                <a:solidFill>
                  <a:srgbClr val="7A7A7A"/>
                </a:solidFill>
                <a:latin typeface="Calibri" pitchFamily="34" charset="0"/>
                <a:ea typeface="Calibri" pitchFamily="34" charset="-122"/>
                <a:cs typeface="Calibri" pitchFamily="34" charset="-120"/>
              </a:rPr>
              <a:t>Sources consulted for the INFERENCE lines and speaker notes — not cited in the paper unless already in its reference list</a:t>
            </a:r>
            <a:endParaRPr lang="en-US" sz="900" dirty="0"/>
          </a:p>
        </p:txBody>
      </p:sp>
      <p:sp>
        <p:nvSpPr>
          <p:cNvPr id="6"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Stone Weirs, Shared Futures — draft deck v3</dc:title>
  <dc:subject>PptxGenJS Presentation</dc:subject>
  <dc:creator>Yu-Hsin TAI</dc:creator>
  <cp:lastModifiedBy>Yu-Hsin TAI</cp:lastModifiedBy>
  <cp:revision>1</cp:revision>
  <dcterms:created xsi:type="dcterms:W3CDTF">2026-09-13T08:19:47Z</dcterms:created>
  <dcterms:modified xsi:type="dcterms:W3CDTF">2026-09-13T08:19:47Z</dcterms:modified>
</cp:coreProperties>
</file>